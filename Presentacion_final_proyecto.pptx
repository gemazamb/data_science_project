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Bricolage Grotesque Bold" panose="020B0605040402000204" pitchFamily="34" charset="0"/>
      <p:regular r:id="rId14"/>
      <p:bold r:id="rId15"/>
    </p:embeddedFont>
    <p:embeddedFont>
      <p:font typeface="Etna Sans Serif" panose="02000600000000000000" pitchFamily="2" charset="0"/>
      <p:regular r:id="rId16"/>
    </p:embeddedFont>
    <p:embeddedFont>
      <p:font typeface="Poppins" pitchFamily="2" charset="77"/>
      <p:regular r:id="rId17"/>
      <p:bold r:id="rId18"/>
    </p:embeddedFont>
    <p:embeddedFont>
      <p:font typeface="Poppins Bold" pitchFamily="2" charset="77"/>
      <p:regular r:id="rId19"/>
      <p:bold r:id="rId20"/>
    </p:embeddedFont>
    <p:embeddedFont>
      <p:font typeface="Poppins Bold Italics" pitchFamily="2" charset="77"/>
      <p:regular r:id="rId21"/>
      <p:bold r:id="rId22"/>
      <p:italic r:id="rId23"/>
      <p:boldItalic r:id="rId24"/>
    </p:embeddedFont>
    <p:embeddedFont>
      <p:font typeface="Poppins Italics" pitchFamily="2" charset="77"/>
      <p:regular r:id="rId25"/>
      <p:italic r:id="rId26"/>
    </p:embeddedFont>
    <p:embeddedFont>
      <p:font typeface="Poppins Medium" panose="00000600000000000000" pitchFamily="2" charset="77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 autoAdjust="0"/>
    <p:restoredTop sz="94658" autoAdjust="0"/>
  </p:normalViewPr>
  <p:slideViewPr>
    <p:cSldViewPr>
      <p:cViewPr varScale="1">
        <p:scale>
          <a:sx n="80" d="100"/>
          <a:sy n="80" d="100"/>
        </p:scale>
        <p:origin x="824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789810" y="-815004"/>
            <a:ext cx="11304659" cy="12048783"/>
            <a:chOff x="0" y="0"/>
            <a:chExt cx="879839" cy="937755"/>
          </a:xfrm>
        </p:grpSpPr>
        <p:sp>
          <p:nvSpPr>
            <p:cNvPr id="3" name="Freeform 3"/>
            <p:cNvSpPr/>
            <p:nvPr/>
          </p:nvSpPr>
          <p:spPr>
            <a:xfrm>
              <a:off x="7953" y="0"/>
              <a:ext cx="863934" cy="937754"/>
            </a:xfrm>
            <a:custGeom>
              <a:avLst/>
              <a:gdLst/>
              <a:ahLst/>
              <a:cxnLst/>
              <a:rect l="l" t="t" r="r" b="b"/>
              <a:pathLst>
                <a:path w="863934" h="937754">
                  <a:moveTo>
                    <a:pt x="856636" y="504066"/>
                  </a:moveTo>
                  <a:lnTo>
                    <a:pt x="683936" y="902566"/>
                  </a:lnTo>
                  <a:cubicBezTo>
                    <a:pt x="674678" y="923929"/>
                    <a:pt x="653618" y="937754"/>
                    <a:pt x="630335" y="937754"/>
                  </a:cubicBezTo>
                  <a:lnTo>
                    <a:pt x="233598" y="937754"/>
                  </a:lnTo>
                  <a:cubicBezTo>
                    <a:pt x="210315" y="937754"/>
                    <a:pt x="189255" y="923929"/>
                    <a:pt x="179997" y="902566"/>
                  </a:cubicBezTo>
                  <a:lnTo>
                    <a:pt x="7297" y="504066"/>
                  </a:lnTo>
                  <a:cubicBezTo>
                    <a:pt x="-2432" y="481616"/>
                    <a:pt x="-2432" y="456139"/>
                    <a:pt x="7297" y="433688"/>
                  </a:cubicBezTo>
                  <a:lnTo>
                    <a:pt x="179997" y="35189"/>
                  </a:lnTo>
                  <a:cubicBezTo>
                    <a:pt x="189255" y="13826"/>
                    <a:pt x="210315" y="0"/>
                    <a:pt x="233598" y="0"/>
                  </a:cubicBezTo>
                  <a:lnTo>
                    <a:pt x="630335" y="0"/>
                  </a:lnTo>
                  <a:cubicBezTo>
                    <a:pt x="653618" y="0"/>
                    <a:pt x="674678" y="13826"/>
                    <a:pt x="683936" y="35189"/>
                  </a:cubicBezTo>
                  <a:lnTo>
                    <a:pt x="856636" y="433688"/>
                  </a:lnTo>
                  <a:cubicBezTo>
                    <a:pt x="866366" y="456139"/>
                    <a:pt x="866366" y="481616"/>
                    <a:pt x="856636" y="504066"/>
                  </a:cubicBezTo>
                  <a:close/>
                </a:path>
              </a:pathLst>
            </a:custGeom>
            <a:solidFill>
              <a:srgbClr val="004AAD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ES_tradn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761692" y="-1044298"/>
            <a:ext cx="10443299" cy="12048783"/>
            <a:chOff x="0" y="0"/>
            <a:chExt cx="812800" cy="937755"/>
          </a:xfrm>
        </p:grpSpPr>
        <p:sp>
          <p:nvSpPr>
            <p:cNvPr id="5" name="Freeform 5"/>
            <p:cNvSpPr/>
            <p:nvPr/>
          </p:nvSpPr>
          <p:spPr>
            <a:xfrm>
              <a:off x="3997" y="0"/>
              <a:ext cx="804806" cy="937754"/>
            </a:xfrm>
            <a:custGeom>
              <a:avLst/>
              <a:gdLst/>
              <a:ahLst/>
              <a:cxnLst/>
              <a:rect l="l" t="t" r="r" b="b"/>
              <a:pathLst>
                <a:path w="804806" h="937754">
                  <a:moveTo>
                    <a:pt x="801139" y="486562"/>
                  </a:moveTo>
                  <a:lnTo>
                    <a:pt x="613267" y="920069"/>
                  </a:lnTo>
                  <a:cubicBezTo>
                    <a:pt x="608614" y="930806"/>
                    <a:pt x="598030" y="937754"/>
                    <a:pt x="586328" y="937754"/>
                  </a:cubicBezTo>
                  <a:lnTo>
                    <a:pt x="218478" y="937754"/>
                  </a:lnTo>
                  <a:cubicBezTo>
                    <a:pt x="206776" y="937754"/>
                    <a:pt x="196192" y="930806"/>
                    <a:pt x="191539" y="920069"/>
                  </a:cubicBezTo>
                  <a:lnTo>
                    <a:pt x="3667" y="486562"/>
                  </a:lnTo>
                  <a:cubicBezTo>
                    <a:pt x="-1222" y="475279"/>
                    <a:pt x="-1222" y="462475"/>
                    <a:pt x="3667" y="451192"/>
                  </a:cubicBezTo>
                  <a:lnTo>
                    <a:pt x="191539" y="17685"/>
                  </a:lnTo>
                  <a:cubicBezTo>
                    <a:pt x="196192" y="6949"/>
                    <a:pt x="206776" y="0"/>
                    <a:pt x="218478" y="0"/>
                  </a:cubicBezTo>
                  <a:lnTo>
                    <a:pt x="586328" y="0"/>
                  </a:lnTo>
                  <a:cubicBezTo>
                    <a:pt x="598030" y="0"/>
                    <a:pt x="608614" y="6949"/>
                    <a:pt x="613267" y="17685"/>
                  </a:cubicBezTo>
                  <a:lnTo>
                    <a:pt x="801139" y="451192"/>
                  </a:lnTo>
                  <a:cubicBezTo>
                    <a:pt x="806029" y="462475"/>
                    <a:pt x="806029" y="475279"/>
                    <a:pt x="801139" y="48656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4300" y="-57150"/>
              <a:ext cx="584200" cy="994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432804" y="5317587"/>
            <a:ext cx="9080334" cy="152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Revelando patrones de riesgo  en datos radiológicos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32804" y="3061336"/>
            <a:ext cx="9969499" cy="2082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04"/>
              </a:lnSpc>
            </a:pPr>
            <a:r>
              <a:rPr lang="en-US" sz="84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Más allá del Diagnóstico:  </a:t>
            </a:r>
          </a:p>
        </p:txBody>
      </p:sp>
      <p:sp>
        <p:nvSpPr>
          <p:cNvPr id="9" name="Freeform 9"/>
          <p:cNvSpPr/>
          <p:nvPr/>
        </p:nvSpPr>
        <p:spPr>
          <a:xfrm>
            <a:off x="8204115" y="6846699"/>
            <a:ext cx="3830463" cy="3830463"/>
          </a:xfrm>
          <a:custGeom>
            <a:avLst/>
            <a:gdLst/>
            <a:ahLst/>
            <a:cxnLst/>
            <a:rect l="l" t="t" r="r" b="b"/>
            <a:pathLst>
              <a:path w="3830463" h="3830463">
                <a:moveTo>
                  <a:pt x="0" y="0"/>
                </a:moveTo>
                <a:lnTo>
                  <a:pt x="3830463" y="0"/>
                </a:lnTo>
                <a:lnTo>
                  <a:pt x="3830463" y="3830463"/>
                </a:lnTo>
                <a:lnTo>
                  <a:pt x="0" y="38304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_tradnl"/>
          </a:p>
        </p:txBody>
      </p:sp>
      <p:sp>
        <p:nvSpPr>
          <p:cNvPr id="10" name="Freeform 10"/>
          <p:cNvSpPr/>
          <p:nvPr/>
        </p:nvSpPr>
        <p:spPr>
          <a:xfrm>
            <a:off x="15472007" y="2424757"/>
            <a:ext cx="4076486" cy="4076486"/>
          </a:xfrm>
          <a:custGeom>
            <a:avLst/>
            <a:gdLst/>
            <a:ahLst/>
            <a:cxnLst/>
            <a:rect l="l" t="t" r="r" b="b"/>
            <a:pathLst>
              <a:path w="4076486" h="4076486">
                <a:moveTo>
                  <a:pt x="0" y="0"/>
                </a:moveTo>
                <a:lnTo>
                  <a:pt x="4076486" y="0"/>
                </a:lnTo>
                <a:lnTo>
                  <a:pt x="4076486" y="4076486"/>
                </a:lnTo>
                <a:lnTo>
                  <a:pt x="0" y="4076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_tradnl"/>
          </a:p>
        </p:txBody>
      </p:sp>
      <p:sp>
        <p:nvSpPr>
          <p:cNvPr id="11" name="TextBox 11"/>
          <p:cNvSpPr txBox="1"/>
          <p:nvPr/>
        </p:nvSpPr>
        <p:spPr>
          <a:xfrm>
            <a:off x="1324155" y="7562040"/>
            <a:ext cx="4548941" cy="1144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19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Integrantes:</a:t>
            </a:r>
          </a:p>
          <a:p>
            <a:pPr algn="l">
              <a:lnSpc>
                <a:spcPts val="3072"/>
              </a:lnSpc>
            </a:pPr>
            <a:r>
              <a:rPr lang="en-US" sz="219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Otto Ferrer</a:t>
            </a:r>
          </a:p>
          <a:p>
            <a:pPr algn="l">
              <a:lnSpc>
                <a:spcPts val="3072"/>
              </a:lnSpc>
            </a:pPr>
            <a:r>
              <a:rPr lang="en-US" sz="219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Gema Zambrano</a:t>
            </a:r>
          </a:p>
        </p:txBody>
      </p:sp>
      <p:sp>
        <p:nvSpPr>
          <p:cNvPr id="12" name="Freeform 12"/>
          <p:cNvSpPr/>
          <p:nvPr/>
        </p:nvSpPr>
        <p:spPr>
          <a:xfrm>
            <a:off x="6577756" y="8447129"/>
            <a:ext cx="811171" cy="811171"/>
          </a:xfrm>
          <a:custGeom>
            <a:avLst/>
            <a:gdLst/>
            <a:ahLst/>
            <a:cxnLst/>
            <a:rect l="l" t="t" r="r" b="b"/>
            <a:pathLst>
              <a:path w="811171" h="811171">
                <a:moveTo>
                  <a:pt x="0" y="0"/>
                </a:moveTo>
                <a:lnTo>
                  <a:pt x="811171" y="0"/>
                </a:lnTo>
                <a:lnTo>
                  <a:pt x="811171" y="811171"/>
                </a:lnTo>
                <a:lnTo>
                  <a:pt x="0" y="8111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_tradnl"/>
          </a:p>
        </p:txBody>
      </p:sp>
      <p:sp>
        <p:nvSpPr>
          <p:cNvPr id="13" name="Freeform 13"/>
          <p:cNvSpPr/>
          <p:nvPr/>
        </p:nvSpPr>
        <p:spPr>
          <a:xfrm>
            <a:off x="8976367" y="1897585"/>
            <a:ext cx="811171" cy="811171"/>
          </a:xfrm>
          <a:custGeom>
            <a:avLst/>
            <a:gdLst/>
            <a:ahLst/>
            <a:cxnLst/>
            <a:rect l="l" t="t" r="r" b="b"/>
            <a:pathLst>
              <a:path w="811171" h="811171">
                <a:moveTo>
                  <a:pt x="0" y="0"/>
                </a:moveTo>
                <a:lnTo>
                  <a:pt x="811171" y="0"/>
                </a:lnTo>
                <a:lnTo>
                  <a:pt x="811171" y="811171"/>
                </a:lnTo>
                <a:lnTo>
                  <a:pt x="0" y="8111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_tradnl"/>
          </a:p>
        </p:txBody>
      </p:sp>
      <p:sp>
        <p:nvSpPr>
          <p:cNvPr id="14" name="Freeform 14"/>
          <p:cNvSpPr/>
          <p:nvPr/>
        </p:nvSpPr>
        <p:spPr>
          <a:xfrm>
            <a:off x="459482" y="1725079"/>
            <a:ext cx="1103816" cy="1103816"/>
          </a:xfrm>
          <a:custGeom>
            <a:avLst/>
            <a:gdLst/>
            <a:ahLst/>
            <a:cxnLst/>
            <a:rect l="l" t="t" r="r" b="b"/>
            <a:pathLst>
              <a:path w="1103816" h="1103816">
                <a:moveTo>
                  <a:pt x="0" y="0"/>
                </a:moveTo>
                <a:lnTo>
                  <a:pt x="1103816" y="0"/>
                </a:lnTo>
                <a:lnTo>
                  <a:pt x="1103816" y="1103816"/>
                </a:lnTo>
                <a:lnTo>
                  <a:pt x="0" y="11038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_tradnl"/>
          </a:p>
        </p:txBody>
      </p:sp>
      <p:sp>
        <p:nvSpPr>
          <p:cNvPr id="15" name="Freeform 15"/>
          <p:cNvSpPr/>
          <p:nvPr/>
        </p:nvSpPr>
        <p:spPr>
          <a:xfrm>
            <a:off x="244832" y="254656"/>
            <a:ext cx="429300" cy="379345"/>
          </a:xfrm>
          <a:custGeom>
            <a:avLst/>
            <a:gdLst/>
            <a:ahLst/>
            <a:cxnLst/>
            <a:rect l="l" t="t" r="r" b="b"/>
            <a:pathLst>
              <a:path w="429300" h="379345">
                <a:moveTo>
                  <a:pt x="0" y="0"/>
                </a:moveTo>
                <a:lnTo>
                  <a:pt x="429300" y="0"/>
                </a:lnTo>
                <a:lnTo>
                  <a:pt x="429300" y="379345"/>
                </a:lnTo>
                <a:lnTo>
                  <a:pt x="0" y="379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_tradnl"/>
          </a:p>
        </p:txBody>
      </p:sp>
      <p:grpSp>
        <p:nvGrpSpPr>
          <p:cNvPr id="16" name="Group 16"/>
          <p:cNvGrpSpPr/>
          <p:nvPr/>
        </p:nvGrpSpPr>
        <p:grpSpPr>
          <a:xfrm>
            <a:off x="8888923" y="797072"/>
            <a:ext cx="1540897" cy="582930"/>
            <a:chOff x="0" y="0"/>
            <a:chExt cx="405833" cy="15352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05833" cy="153529"/>
            </a:xfrm>
            <a:custGeom>
              <a:avLst/>
              <a:gdLst/>
              <a:ahLst/>
              <a:cxnLst/>
              <a:rect l="l" t="t" r="r" b="b"/>
              <a:pathLst>
                <a:path w="405833" h="153529">
                  <a:moveTo>
                    <a:pt x="76764" y="0"/>
                  </a:moveTo>
                  <a:lnTo>
                    <a:pt x="329068" y="0"/>
                  </a:lnTo>
                  <a:cubicBezTo>
                    <a:pt x="349428" y="0"/>
                    <a:pt x="368953" y="8088"/>
                    <a:pt x="383349" y="22484"/>
                  </a:cubicBezTo>
                  <a:cubicBezTo>
                    <a:pt x="397745" y="36880"/>
                    <a:pt x="405833" y="56405"/>
                    <a:pt x="405833" y="76764"/>
                  </a:cubicBezTo>
                  <a:lnTo>
                    <a:pt x="405833" y="76764"/>
                  </a:lnTo>
                  <a:cubicBezTo>
                    <a:pt x="405833" y="119160"/>
                    <a:pt x="371464" y="153529"/>
                    <a:pt x="329068" y="153529"/>
                  </a:cubicBezTo>
                  <a:lnTo>
                    <a:pt x="76764" y="153529"/>
                  </a:lnTo>
                  <a:cubicBezTo>
                    <a:pt x="56405" y="153529"/>
                    <a:pt x="36880" y="145441"/>
                    <a:pt x="22484" y="131045"/>
                  </a:cubicBezTo>
                  <a:cubicBezTo>
                    <a:pt x="8088" y="116649"/>
                    <a:pt x="0" y="97124"/>
                    <a:pt x="0" y="76764"/>
                  </a:cubicBezTo>
                  <a:lnTo>
                    <a:pt x="0" y="76764"/>
                  </a:lnTo>
                  <a:cubicBezTo>
                    <a:pt x="0" y="56405"/>
                    <a:pt x="8088" y="36880"/>
                    <a:pt x="22484" y="22484"/>
                  </a:cubicBezTo>
                  <a:cubicBezTo>
                    <a:pt x="36880" y="8088"/>
                    <a:pt x="56405" y="0"/>
                    <a:pt x="76764" y="0"/>
                  </a:cubicBezTo>
                  <a:close/>
                </a:path>
              </a:pathLst>
            </a:custGeom>
            <a:solidFill>
              <a:srgbClr val="3557CB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405833" cy="2106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1495" y="-1292078"/>
            <a:ext cx="18610990" cy="3020317"/>
            <a:chOff x="0" y="0"/>
            <a:chExt cx="4901660" cy="7954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01660" cy="795474"/>
            </a:xfrm>
            <a:custGeom>
              <a:avLst/>
              <a:gdLst/>
              <a:ahLst/>
              <a:cxnLst/>
              <a:rect l="l" t="t" r="r" b="b"/>
              <a:pathLst>
                <a:path w="4901660" h="795474">
                  <a:moveTo>
                    <a:pt x="0" y="0"/>
                  </a:moveTo>
                  <a:lnTo>
                    <a:pt x="4901660" y="0"/>
                  </a:lnTo>
                  <a:lnTo>
                    <a:pt x="4901660" y="795474"/>
                  </a:lnTo>
                  <a:lnTo>
                    <a:pt x="0" y="795474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901660" cy="8526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1028700" y="2501268"/>
            <a:ext cx="0" cy="6131479"/>
          </a:xfrm>
          <a:prstGeom prst="line">
            <a:avLst/>
          </a:prstGeom>
          <a:ln w="76200" cap="flat">
            <a:solidFill>
              <a:srgbClr val="3557C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_tradnl"/>
          </a:p>
        </p:txBody>
      </p:sp>
      <p:sp>
        <p:nvSpPr>
          <p:cNvPr id="6" name="Freeform 6"/>
          <p:cNvSpPr/>
          <p:nvPr/>
        </p:nvSpPr>
        <p:spPr>
          <a:xfrm>
            <a:off x="476792" y="8632747"/>
            <a:ext cx="1103816" cy="1103816"/>
          </a:xfrm>
          <a:custGeom>
            <a:avLst/>
            <a:gdLst/>
            <a:ahLst/>
            <a:cxnLst/>
            <a:rect l="l" t="t" r="r" b="b"/>
            <a:pathLst>
              <a:path w="1103816" h="1103816">
                <a:moveTo>
                  <a:pt x="0" y="0"/>
                </a:moveTo>
                <a:lnTo>
                  <a:pt x="1103816" y="0"/>
                </a:lnTo>
                <a:lnTo>
                  <a:pt x="1103816" y="1103815"/>
                </a:lnTo>
                <a:lnTo>
                  <a:pt x="0" y="11038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_tradnl"/>
          </a:p>
        </p:txBody>
      </p:sp>
      <p:sp>
        <p:nvSpPr>
          <p:cNvPr id="7" name="TextBox 7"/>
          <p:cNvSpPr txBox="1"/>
          <p:nvPr/>
        </p:nvSpPr>
        <p:spPr>
          <a:xfrm>
            <a:off x="1276913" y="831215"/>
            <a:ext cx="9402322" cy="473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8"/>
              </a:lnSpc>
            </a:pPr>
            <a:r>
              <a:rPr lang="en-US" sz="38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Desafío clínico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1813" y="2944485"/>
            <a:ext cx="7015935" cy="5987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2788" lvl="1" indent="-216394" algn="just">
              <a:lnSpc>
                <a:spcPts val="2806"/>
              </a:lnSpc>
              <a:buFont typeface="Arial"/>
              <a:buChar char="•"/>
            </a:pPr>
            <a:r>
              <a:rPr lang="en-US" sz="2004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Situación</a:t>
            </a:r>
            <a:r>
              <a:rPr lang="en-US" sz="2004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  <a:r>
              <a:rPr lang="en-US" sz="200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Disponemos</a:t>
            </a: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0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una</a:t>
            </a: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cohorte</a:t>
            </a: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masiva</a:t>
            </a: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validada</a:t>
            </a: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200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que</a:t>
            </a: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integra la </a:t>
            </a:r>
            <a:r>
              <a:rPr lang="en-US" sz="200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evidencia</a:t>
            </a: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visual (</a:t>
            </a:r>
            <a:r>
              <a:rPr lang="en-US" sz="200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imágenes</a:t>
            </a: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00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tórax</a:t>
            </a: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 con </a:t>
            </a:r>
            <a:r>
              <a:rPr lang="en-US" sz="200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metadatos</a:t>
            </a: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del </a:t>
            </a:r>
            <a:r>
              <a:rPr lang="en-US" sz="200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paciente</a:t>
            </a: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00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edad</a:t>
            </a: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0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sexo</a:t>
            </a: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raza), </a:t>
            </a:r>
            <a:r>
              <a:rPr lang="en-US" sz="200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capturando</a:t>
            </a: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0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realidad</a:t>
            </a: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hospitalaria</a:t>
            </a: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just">
              <a:lnSpc>
                <a:spcPts val="2806"/>
              </a:lnSpc>
            </a:pPr>
            <a:endParaRPr lang="en-US" sz="2004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2788" lvl="1" indent="-216394" algn="just">
              <a:lnSpc>
                <a:spcPts val="2806"/>
              </a:lnSpc>
              <a:buFont typeface="Arial"/>
              <a:buChar char="•"/>
            </a:pPr>
            <a:r>
              <a:rPr lang="en-US" sz="2004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Complicación</a:t>
            </a:r>
            <a:r>
              <a:rPr lang="en-US" sz="2004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Los </a:t>
            </a:r>
            <a:r>
              <a:rPr lang="en-US" sz="200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datos</a:t>
            </a: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se </a:t>
            </a:r>
            <a:r>
              <a:rPr lang="en-US" sz="200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usan</a:t>
            </a: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200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diagnosticar</a:t>
            </a: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enfermedades</a:t>
            </a: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0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pero</a:t>
            </a: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no se </a:t>
            </a:r>
            <a:r>
              <a:rPr lang="en-US" sz="200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están</a:t>
            </a: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usando</a:t>
            </a: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200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entender</a:t>
            </a: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pacientes</a:t>
            </a: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Nos </a:t>
            </a:r>
            <a:r>
              <a:rPr lang="en-US" sz="200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falta</a:t>
            </a: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00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visión</a:t>
            </a: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integral de </a:t>
            </a:r>
            <a:r>
              <a:rPr lang="en-US" sz="200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riesgo</a:t>
            </a: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2004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equidad</a:t>
            </a:r>
            <a:r>
              <a:rPr lang="en-US" sz="20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just">
              <a:lnSpc>
                <a:spcPts val="2806"/>
              </a:lnSpc>
            </a:pPr>
            <a:endParaRPr lang="en-US" sz="2004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2788" lvl="1" indent="-216394" algn="just">
              <a:lnSpc>
                <a:spcPts val="2806"/>
              </a:lnSpc>
              <a:buFont typeface="Arial"/>
              <a:buChar char="•"/>
            </a:pPr>
            <a:r>
              <a:rPr lang="en-US" sz="2004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Pregunta</a:t>
            </a:r>
            <a:r>
              <a:rPr lang="en-US" sz="2004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Clave: </a:t>
            </a:r>
            <a:r>
              <a:rPr lang="en-US" sz="2004" i="1" dirty="0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¿</a:t>
            </a:r>
            <a:r>
              <a:rPr lang="en-US" sz="2004" i="1" dirty="0" err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Cómo</a:t>
            </a:r>
            <a:r>
              <a:rPr lang="en-US" sz="2004" i="1" dirty="0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  <a:r>
              <a:rPr lang="en-US" sz="2004" i="1" dirty="0" err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podemos</a:t>
            </a:r>
            <a:r>
              <a:rPr lang="en-US" sz="2004" i="1" dirty="0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  <a:r>
              <a:rPr lang="en-US" sz="2004" i="1" dirty="0" err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explotar</a:t>
            </a:r>
            <a:r>
              <a:rPr lang="en-US" sz="2004" i="1" dirty="0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la </a:t>
            </a:r>
            <a:r>
              <a:rPr lang="en-US" sz="2004" i="1" dirty="0" err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intersección</a:t>
            </a:r>
            <a:r>
              <a:rPr lang="en-US" sz="2004" i="1" dirty="0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entre </a:t>
            </a:r>
            <a:r>
              <a:rPr lang="en-US" sz="2004" i="1" dirty="0" err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hallazgos</a:t>
            </a:r>
            <a:r>
              <a:rPr lang="en-US" sz="2004" i="1" dirty="0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  <a:r>
              <a:rPr lang="en-US" sz="2004" i="1" dirty="0" err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radiológicos</a:t>
            </a:r>
            <a:r>
              <a:rPr lang="en-US" sz="2004" i="1" dirty="0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y </a:t>
            </a:r>
            <a:r>
              <a:rPr lang="en-US" sz="2004" i="1" dirty="0" err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datos</a:t>
            </a:r>
            <a:r>
              <a:rPr lang="en-US" sz="2004" i="1" dirty="0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  <a:r>
              <a:rPr lang="en-US" sz="2004" i="1" dirty="0" err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demográficos</a:t>
            </a:r>
            <a:r>
              <a:rPr lang="en-US" sz="2004" i="1" dirty="0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para pasar de un simple </a:t>
            </a:r>
            <a:r>
              <a:rPr lang="en-US" sz="2004" i="1" dirty="0" err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diagnóstico</a:t>
            </a:r>
            <a:r>
              <a:rPr lang="en-US" sz="2004" i="1" dirty="0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  <a:r>
              <a:rPr lang="en-US" sz="2004" i="1" dirty="0" err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por</a:t>
            </a:r>
            <a:r>
              <a:rPr lang="en-US" sz="2004" i="1" dirty="0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imagen a </a:t>
            </a:r>
            <a:r>
              <a:rPr lang="en-US" sz="2004" i="1" dirty="0" err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una</a:t>
            </a:r>
            <a:r>
              <a:rPr lang="en-US" sz="2004" i="1" dirty="0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  <a:r>
              <a:rPr lang="en-US" sz="2004" i="1" dirty="0" err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estratificación</a:t>
            </a:r>
            <a:r>
              <a:rPr lang="en-US" sz="2004" i="1" dirty="0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de </a:t>
            </a:r>
            <a:r>
              <a:rPr lang="en-US" sz="2004" i="1" dirty="0" err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riesgo</a:t>
            </a:r>
            <a:r>
              <a:rPr lang="en-US" sz="2004" i="1" dirty="0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  <a:r>
              <a:rPr lang="en-US" sz="2004" i="1" dirty="0" err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poblacional</a:t>
            </a:r>
            <a:r>
              <a:rPr lang="en-US" sz="2004" i="1" dirty="0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  <a:r>
              <a:rPr lang="en-US" sz="2004" i="1" dirty="0" err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que</a:t>
            </a:r>
            <a:r>
              <a:rPr lang="en-US" sz="2004" i="1" dirty="0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  <a:r>
              <a:rPr lang="en-US" sz="2004" i="1" dirty="0" err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anticipe</a:t>
            </a:r>
            <a:r>
              <a:rPr lang="en-US" sz="2004" i="1" dirty="0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  <a:r>
              <a:rPr lang="en-US" sz="2004" i="1" dirty="0" err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complicaciones</a:t>
            </a:r>
            <a:r>
              <a:rPr lang="en-US" sz="2004" i="1" dirty="0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?</a:t>
            </a:r>
          </a:p>
          <a:p>
            <a:pPr algn="just">
              <a:lnSpc>
                <a:spcPts val="2806"/>
              </a:lnSpc>
              <a:spcBef>
                <a:spcPct val="0"/>
              </a:spcBef>
            </a:pPr>
            <a:endParaRPr lang="en-US" sz="2004" i="1" dirty="0">
              <a:solidFill>
                <a:srgbClr val="000000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3D8DD320-6FCD-A7F3-F3D7-319A9DDD543D}"/>
              </a:ext>
            </a:extLst>
          </p:cNvPr>
          <p:cNvSpPr/>
          <p:nvPr/>
        </p:nvSpPr>
        <p:spPr>
          <a:xfrm>
            <a:off x="10363200" y="3664459"/>
            <a:ext cx="5729164" cy="2438400"/>
          </a:xfrm>
          <a:custGeom>
            <a:avLst/>
            <a:gdLst/>
            <a:ahLst/>
            <a:cxnLst/>
            <a:rect l="l" t="t" r="r" b="b"/>
            <a:pathLst>
              <a:path w="3798755" h="2005600">
                <a:moveTo>
                  <a:pt x="0" y="0"/>
                </a:moveTo>
                <a:lnTo>
                  <a:pt x="3798755" y="0"/>
                </a:lnTo>
                <a:lnTo>
                  <a:pt x="3798755" y="2005600"/>
                </a:lnTo>
                <a:lnTo>
                  <a:pt x="0" y="2005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4197" b="-18749"/>
            </a:stretch>
          </a:blipFill>
        </p:spPr>
        <p:txBody>
          <a:bodyPr/>
          <a:lstStyle/>
          <a:p>
            <a:endParaRPr lang="es-ES_tradnl" dirty="0"/>
          </a:p>
        </p:txBody>
      </p:sp>
      <p:sp>
        <p:nvSpPr>
          <p:cNvPr id="16" name="TextBox 25">
            <a:extLst>
              <a:ext uri="{FF2B5EF4-FFF2-40B4-BE49-F238E27FC236}">
                <a16:creationId xmlns:a16="http://schemas.microsoft.com/office/drawing/2014/main" id="{C66091FA-29D9-99A8-FD4D-D6A0E054F075}"/>
              </a:ext>
            </a:extLst>
          </p:cNvPr>
          <p:cNvSpPr txBox="1"/>
          <p:nvPr/>
        </p:nvSpPr>
        <p:spPr>
          <a:xfrm>
            <a:off x="10652406" y="6348128"/>
            <a:ext cx="5150752" cy="348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5"/>
              </a:lnSpc>
              <a:spcBef>
                <a:spcPct val="0"/>
              </a:spcBef>
            </a:pPr>
            <a:r>
              <a:rPr lang="en-US" sz="1004" b="1" dirty="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Center for Artificial Intelligence in Medicine &amp; Imaging (AIMI). (2019). </a:t>
            </a:r>
            <a:r>
              <a:rPr lang="en-US" sz="1004" b="1" dirty="0" err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CheXpert</a:t>
            </a:r>
            <a:r>
              <a:rPr lang="en-US" sz="1004" b="1" dirty="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: Chest X-rays. https://</a:t>
            </a:r>
            <a:r>
              <a:rPr lang="en-US" sz="1004" b="1" dirty="0" err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doi.org</a:t>
            </a:r>
            <a:r>
              <a:rPr lang="en-US" sz="1004" b="1" dirty="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/10.71718/y7pj-4v93.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1495" y="-1278387"/>
            <a:ext cx="18610990" cy="3020317"/>
            <a:chOff x="0" y="0"/>
            <a:chExt cx="4901660" cy="7954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01660" cy="795474"/>
            </a:xfrm>
            <a:custGeom>
              <a:avLst/>
              <a:gdLst/>
              <a:ahLst/>
              <a:cxnLst/>
              <a:rect l="l" t="t" r="r" b="b"/>
              <a:pathLst>
                <a:path w="4901660" h="795474">
                  <a:moveTo>
                    <a:pt x="0" y="0"/>
                  </a:moveTo>
                  <a:lnTo>
                    <a:pt x="4901660" y="0"/>
                  </a:lnTo>
                  <a:lnTo>
                    <a:pt x="4901660" y="795474"/>
                  </a:lnTo>
                  <a:lnTo>
                    <a:pt x="0" y="795474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901660" cy="8526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81560" y="487002"/>
            <a:ext cx="14524881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 b="1" dirty="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Ingeniería de Datos: </a:t>
            </a:r>
            <a:r>
              <a:rPr lang="en-US" sz="3800" b="1" dirty="0" err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Preprocesamiento</a:t>
            </a:r>
            <a:r>
              <a:rPr lang="en-US" sz="3800" b="1" dirty="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y </a:t>
            </a:r>
            <a:r>
              <a:rPr lang="en-US" sz="3800" b="1" dirty="0" err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Creación</a:t>
            </a:r>
            <a:r>
              <a:rPr lang="en-US" sz="3800" b="1" dirty="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de </a:t>
            </a:r>
            <a:r>
              <a:rPr lang="en-US" sz="3800" b="1" dirty="0" err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Métricas</a:t>
            </a:r>
            <a:endParaRPr lang="en-US" sz="3800" b="1" dirty="0">
              <a:solidFill>
                <a:srgbClr val="FFFFFF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6334007" y="1929788"/>
            <a:ext cx="5079013" cy="7799137"/>
            <a:chOff x="0" y="0"/>
            <a:chExt cx="1270274" cy="195058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70274" cy="1950583"/>
            </a:xfrm>
            <a:custGeom>
              <a:avLst/>
              <a:gdLst/>
              <a:ahLst/>
              <a:cxnLst/>
              <a:rect l="l" t="t" r="r" b="b"/>
              <a:pathLst>
                <a:path w="1270274" h="1950583">
                  <a:moveTo>
                    <a:pt x="44205" y="0"/>
                  </a:moveTo>
                  <a:lnTo>
                    <a:pt x="1226069" y="0"/>
                  </a:lnTo>
                  <a:cubicBezTo>
                    <a:pt x="1250483" y="0"/>
                    <a:pt x="1270274" y="19791"/>
                    <a:pt x="1270274" y="44205"/>
                  </a:cubicBezTo>
                  <a:lnTo>
                    <a:pt x="1270274" y="1906378"/>
                  </a:lnTo>
                  <a:cubicBezTo>
                    <a:pt x="1270274" y="1930792"/>
                    <a:pt x="1250483" y="1950583"/>
                    <a:pt x="1226069" y="1950583"/>
                  </a:cubicBezTo>
                  <a:lnTo>
                    <a:pt x="44205" y="1950583"/>
                  </a:lnTo>
                  <a:cubicBezTo>
                    <a:pt x="19791" y="1950583"/>
                    <a:pt x="0" y="1930792"/>
                    <a:pt x="0" y="1906378"/>
                  </a:cubicBezTo>
                  <a:lnTo>
                    <a:pt x="0" y="44205"/>
                  </a:lnTo>
                  <a:cubicBezTo>
                    <a:pt x="0" y="19791"/>
                    <a:pt x="19791" y="0"/>
                    <a:pt x="44205" y="0"/>
                  </a:cubicBezTo>
                  <a:close/>
                </a:path>
              </a:pathLst>
            </a:custGeom>
            <a:solidFill>
              <a:srgbClr val="EBEBEB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270274" cy="2007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016101" y="6833279"/>
            <a:ext cx="3798755" cy="2005600"/>
          </a:xfrm>
          <a:custGeom>
            <a:avLst/>
            <a:gdLst/>
            <a:ahLst/>
            <a:cxnLst/>
            <a:rect l="l" t="t" r="r" b="b"/>
            <a:pathLst>
              <a:path w="3798755" h="2005600">
                <a:moveTo>
                  <a:pt x="0" y="0"/>
                </a:moveTo>
                <a:lnTo>
                  <a:pt x="3798755" y="0"/>
                </a:lnTo>
                <a:lnTo>
                  <a:pt x="3798755" y="2005600"/>
                </a:lnTo>
                <a:lnTo>
                  <a:pt x="0" y="2005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797"/>
            </a:stretch>
          </a:blipFill>
        </p:spPr>
        <p:txBody>
          <a:bodyPr/>
          <a:lstStyle/>
          <a:p>
            <a:endParaRPr lang="es-ES_tradnl"/>
          </a:p>
        </p:txBody>
      </p:sp>
      <p:grpSp>
        <p:nvGrpSpPr>
          <p:cNvPr id="10" name="Group 10"/>
          <p:cNvGrpSpPr/>
          <p:nvPr/>
        </p:nvGrpSpPr>
        <p:grpSpPr>
          <a:xfrm>
            <a:off x="12180287" y="1929788"/>
            <a:ext cx="5079013" cy="7799137"/>
            <a:chOff x="0" y="0"/>
            <a:chExt cx="1270274" cy="19505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70274" cy="1950583"/>
            </a:xfrm>
            <a:custGeom>
              <a:avLst/>
              <a:gdLst/>
              <a:ahLst/>
              <a:cxnLst/>
              <a:rect l="l" t="t" r="r" b="b"/>
              <a:pathLst>
                <a:path w="1270274" h="1950583">
                  <a:moveTo>
                    <a:pt x="44205" y="0"/>
                  </a:moveTo>
                  <a:lnTo>
                    <a:pt x="1226069" y="0"/>
                  </a:lnTo>
                  <a:cubicBezTo>
                    <a:pt x="1250483" y="0"/>
                    <a:pt x="1270274" y="19791"/>
                    <a:pt x="1270274" y="44205"/>
                  </a:cubicBezTo>
                  <a:lnTo>
                    <a:pt x="1270274" y="1906378"/>
                  </a:lnTo>
                  <a:cubicBezTo>
                    <a:pt x="1270274" y="1930792"/>
                    <a:pt x="1250483" y="1950583"/>
                    <a:pt x="1226069" y="1950583"/>
                  </a:cubicBezTo>
                  <a:lnTo>
                    <a:pt x="44205" y="1950583"/>
                  </a:lnTo>
                  <a:cubicBezTo>
                    <a:pt x="19791" y="1950583"/>
                    <a:pt x="0" y="1930792"/>
                    <a:pt x="0" y="1906378"/>
                  </a:cubicBezTo>
                  <a:lnTo>
                    <a:pt x="0" y="44205"/>
                  </a:lnTo>
                  <a:cubicBezTo>
                    <a:pt x="0" y="19791"/>
                    <a:pt x="19791" y="0"/>
                    <a:pt x="44205" y="0"/>
                  </a:cubicBezTo>
                  <a:close/>
                </a:path>
              </a:pathLst>
            </a:custGeom>
            <a:solidFill>
              <a:srgbClr val="EBEBEB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270274" cy="2007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71657" y="1929788"/>
            <a:ext cx="5079013" cy="7799137"/>
            <a:chOff x="0" y="0"/>
            <a:chExt cx="1270274" cy="195058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70274" cy="1950583"/>
            </a:xfrm>
            <a:custGeom>
              <a:avLst/>
              <a:gdLst/>
              <a:ahLst/>
              <a:cxnLst/>
              <a:rect l="l" t="t" r="r" b="b"/>
              <a:pathLst>
                <a:path w="1270274" h="1950583">
                  <a:moveTo>
                    <a:pt x="44205" y="0"/>
                  </a:moveTo>
                  <a:lnTo>
                    <a:pt x="1226069" y="0"/>
                  </a:lnTo>
                  <a:cubicBezTo>
                    <a:pt x="1250483" y="0"/>
                    <a:pt x="1270274" y="19791"/>
                    <a:pt x="1270274" y="44205"/>
                  </a:cubicBezTo>
                  <a:lnTo>
                    <a:pt x="1270274" y="1906378"/>
                  </a:lnTo>
                  <a:cubicBezTo>
                    <a:pt x="1270274" y="1930792"/>
                    <a:pt x="1250483" y="1950583"/>
                    <a:pt x="1226069" y="1950583"/>
                  </a:cubicBezTo>
                  <a:lnTo>
                    <a:pt x="44205" y="1950583"/>
                  </a:lnTo>
                  <a:cubicBezTo>
                    <a:pt x="19791" y="1950583"/>
                    <a:pt x="0" y="1930792"/>
                    <a:pt x="0" y="1906378"/>
                  </a:cubicBezTo>
                  <a:lnTo>
                    <a:pt x="0" y="44205"/>
                  </a:lnTo>
                  <a:cubicBezTo>
                    <a:pt x="0" y="19791"/>
                    <a:pt x="19791" y="0"/>
                    <a:pt x="44205" y="0"/>
                  </a:cubicBezTo>
                  <a:close/>
                </a:path>
              </a:pathLst>
            </a:custGeom>
            <a:solidFill>
              <a:srgbClr val="EBEBEB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270274" cy="2007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320303" y="2031346"/>
            <a:ext cx="3025173" cy="38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05"/>
              </a:lnSpc>
              <a:spcBef>
                <a:spcPct val="0"/>
              </a:spcBef>
            </a:pPr>
            <a:r>
              <a:rPr lang="en-US" sz="2147" b="1" i="1">
                <a:solidFill>
                  <a:srgbClr val="17254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Dimension y alcance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02892" y="2031346"/>
            <a:ext cx="3411964" cy="38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05"/>
              </a:lnSpc>
              <a:spcBef>
                <a:spcPct val="0"/>
              </a:spcBef>
            </a:pPr>
            <a:r>
              <a:rPr lang="en-US" sz="2147" b="1" i="1">
                <a:solidFill>
                  <a:srgbClr val="17254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Contexto de la BD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403745" y="2031346"/>
            <a:ext cx="3025173" cy="38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05"/>
              </a:lnSpc>
              <a:spcBef>
                <a:spcPct val="0"/>
              </a:spcBef>
            </a:pPr>
            <a:r>
              <a:rPr lang="en-US" sz="2147" b="1" i="1">
                <a:solidFill>
                  <a:srgbClr val="17254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Ingeniería de datos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3124835"/>
            <a:ext cx="4278509" cy="6359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Base de datos: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223.414 observaciones, 26 columnas iniciales.  Pacientes únicos: 64.540</a:t>
            </a:r>
          </a:p>
          <a:p>
            <a:pPr algn="just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Limpieza:  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Estandarización de etiquetas y manejos de null/vacios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      24 Razas-&gt;7 razas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       6 etnias-&gt; 3 etnias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15,48% de filas descartadas</a:t>
            </a:r>
          </a:p>
          <a:p>
            <a:pPr algn="just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Base de datos final: 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188.811 observaciones, 35 columnas. Pacientes únicos:  63.688</a:t>
            </a:r>
          </a:p>
          <a:p>
            <a:pPr algn="just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776224" y="2931204"/>
            <a:ext cx="4278509" cy="354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Contiene información del paciente: </a:t>
            </a:r>
          </a:p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Edad, sexo, raza y etnia</a:t>
            </a:r>
          </a:p>
          <a:p>
            <a:pPr algn="just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Contiene información de las imágenes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Vista , tipo de proyección, hallazgos médicos, imagen registrada.</a:t>
            </a:r>
          </a:p>
          <a:p>
            <a:pPr algn="just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695264" y="3013075"/>
            <a:ext cx="4278509" cy="424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Índice de Carga Patológica:   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La suma de hallazgos positivos por paciente. Esto permite categorizar a los pacientes según la severidad global.</a:t>
            </a:r>
          </a:p>
          <a:p>
            <a:pPr algn="just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lvl="1" indent="-215900" algn="just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Basado en la metodologia propuesta por Johnston et al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https://academic.oup.com/eurpub/article/29/1/182/5033670?login=false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72329" y="8982075"/>
            <a:ext cx="3486299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Proyección de radiografía del torax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855222" y="6557054"/>
            <a:ext cx="259407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AP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81476" y="6557054"/>
            <a:ext cx="259407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1495" y="-1278387"/>
            <a:ext cx="18610990" cy="3020317"/>
            <a:chOff x="0" y="0"/>
            <a:chExt cx="4901660" cy="7954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01660" cy="795474"/>
            </a:xfrm>
            <a:custGeom>
              <a:avLst/>
              <a:gdLst/>
              <a:ahLst/>
              <a:cxnLst/>
              <a:rect l="l" t="t" r="r" b="b"/>
              <a:pathLst>
                <a:path w="4901660" h="795474">
                  <a:moveTo>
                    <a:pt x="0" y="0"/>
                  </a:moveTo>
                  <a:lnTo>
                    <a:pt x="4901660" y="0"/>
                  </a:lnTo>
                  <a:lnTo>
                    <a:pt x="4901660" y="795474"/>
                  </a:lnTo>
                  <a:lnTo>
                    <a:pt x="0" y="795474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901660" cy="8526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146391" y="5470085"/>
            <a:ext cx="3855272" cy="902845"/>
            <a:chOff x="0" y="0"/>
            <a:chExt cx="964213" cy="2258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64213" cy="225804"/>
            </a:xfrm>
            <a:custGeom>
              <a:avLst/>
              <a:gdLst/>
              <a:ahLst/>
              <a:cxnLst/>
              <a:rect l="l" t="t" r="r" b="b"/>
              <a:pathLst>
                <a:path w="964213" h="225804">
                  <a:moveTo>
                    <a:pt x="58236" y="0"/>
                  </a:moveTo>
                  <a:lnTo>
                    <a:pt x="905977" y="0"/>
                  </a:lnTo>
                  <a:cubicBezTo>
                    <a:pt x="921422" y="0"/>
                    <a:pt x="936235" y="6136"/>
                    <a:pt x="947156" y="17057"/>
                  </a:cubicBezTo>
                  <a:cubicBezTo>
                    <a:pt x="958077" y="27978"/>
                    <a:pt x="964213" y="42791"/>
                    <a:pt x="964213" y="58236"/>
                  </a:cubicBezTo>
                  <a:lnTo>
                    <a:pt x="964213" y="167568"/>
                  </a:lnTo>
                  <a:cubicBezTo>
                    <a:pt x="964213" y="183013"/>
                    <a:pt x="958077" y="197825"/>
                    <a:pt x="947156" y="208747"/>
                  </a:cubicBezTo>
                  <a:cubicBezTo>
                    <a:pt x="936235" y="219668"/>
                    <a:pt x="921422" y="225804"/>
                    <a:pt x="905977" y="225804"/>
                  </a:cubicBezTo>
                  <a:lnTo>
                    <a:pt x="58236" y="225804"/>
                  </a:lnTo>
                  <a:cubicBezTo>
                    <a:pt x="42791" y="225804"/>
                    <a:pt x="27978" y="219668"/>
                    <a:pt x="17057" y="208747"/>
                  </a:cubicBezTo>
                  <a:cubicBezTo>
                    <a:pt x="6136" y="197825"/>
                    <a:pt x="0" y="183013"/>
                    <a:pt x="0" y="167568"/>
                  </a:cubicBezTo>
                  <a:lnTo>
                    <a:pt x="0" y="58236"/>
                  </a:lnTo>
                  <a:cubicBezTo>
                    <a:pt x="0" y="42791"/>
                    <a:pt x="6136" y="27978"/>
                    <a:pt x="17057" y="17057"/>
                  </a:cubicBezTo>
                  <a:cubicBezTo>
                    <a:pt x="27978" y="6136"/>
                    <a:pt x="42791" y="0"/>
                    <a:pt x="58236" y="0"/>
                  </a:cubicBezTo>
                  <a:close/>
                </a:path>
              </a:pathLst>
            </a:custGeom>
            <a:solidFill>
              <a:srgbClr val="99C6E0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964213" cy="2829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146391" y="6656081"/>
            <a:ext cx="3855272" cy="902845"/>
            <a:chOff x="0" y="0"/>
            <a:chExt cx="964213" cy="22580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64213" cy="225804"/>
            </a:xfrm>
            <a:custGeom>
              <a:avLst/>
              <a:gdLst/>
              <a:ahLst/>
              <a:cxnLst/>
              <a:rect l="l" t="t" r="r" b="b"/>
              <a:pathLst>
                <a:path w="964213" h="225804">
                  <a:moveTo>
                    <a:pt x="58236" y="0"/>
                  </a:moveTo>
                  <a:lnTo>
                    <a:pt x="905977" y="0"/>
                  </a:lnTo>
                  <a:cubicBezTo>
                    <a:pt x="921422" y="0"/>
                    <a:pt x="936235" y="6136"/>
                    <a:pt x="947156" y="17057"/>
                  </a:cubicBezTo>
                  <a:cubicBezTo>
                    <a:pt x="958077" y="27978"/>
                    <a:pt x="964213" y="42791"/>
                    <a:pt x="964213" y="58236"/>
                  </a:cubicBezTo>
                  <a:lnTo>
                    <a:pt x="964213" y="167568"/>
                  </a:lnTo>
                  <a:cubicBezTo>
                    <a:pt x="964213" y="183013"/>
                    <a:pt x="958077" y="197825"/>
                    <a:pt x="947156" y="208747"/>
                  </a:cubicBezTo>
                  <a:cubicBezTo>
                    <a:pt x="936235" y="219668"/>
                    <a:pt x="921422" y="225804"/>
                    <a:pt x="905977" y="225804"/>
                  </a:cubicBezTo>
                  <a:lnTo>
                    <a:pt x="58236" y="225804"/>
                  </a:lnTo>
                  <a:cubicBezTo>
                    <a:pt x="42791" y="225804"/>
                    <a:pt x="27978" y="219668"/>
                    <a:pt x="17057" y="208747"/>
                  </a:cubicBezTo>
                  <a:cubicBezTo>
                    <a:pt x="6136" y="197825"/>
                    <a:pt x="0" y="183013"/>
                    <a:pt x="0" y="167568"/>
                  </a:cubicBezTo>
                  <a:lnTo>
                    <a:pt x="0" y="58236"/>
                  </a:lnTo>
                  <a:cubicBezTo>
                    <a:pt x="0" y="42791"/>
                    <a:pt x="6136" y="27978"/>
                    <a:pt x="17057" y="17057"/>
                  </a:cubicBezTo>
                  <a:cubicBezTo>
                    <a:pt x="27978" y="6136"/>
                    <a:pt x="42791" y="0"/>
                    <a:pt x="58236" y="0"/>
                  </a:cubicBezTo>
                  <a:close/>
                </a:path>
              </a:pathLst>
            </a:custGeom>
            <a:solidFill>
              <a:srgbClr val="99C6E0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964213" cy="2829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146391" y="7846434"/>
            <a:ext cx="3855272" cy="902845"/>
            <a:chOff x="0" y="0"/>
            <a:chExt cx="964213" cy="22580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64213" cy="225804"/>
            </a:xfrm>
            <a:custGeom>
              <a:avLst/>
              <a:gdLst/>
              <a:ahLst/>
              <a:cxnLst/>
              <a:rect l="l" t="t" r="r" b="b"/>
              <a:pathLst>
                <a:path w="964213" h="225804">
                  <a:moveTo>
                    <a:pt x="58236" y="0"/>
                  </a:moveTo>
                  <a:lnTo>
                    <a:pt x="905977" y="0"/>
                  </a:lnTo>
                  <a:cubicBezTo>
                    <a:pt x="921422" y="0"/>
                    <a:pt x="936235" y="6136"/>
                    <a:pt x="947156" y="17057"/>
                  </a:cubicBezTo>
                  <a:cubicBezTo>
                    <a:pt x="958077" y="27978"/>
                    <a:pt x="964213" y="42791"/>
                    <a:pt x="964213" y="58236"/>
                  </a:cubicBezTo>
                  <a:lnTo>
                    <a:pt x="964213" y="167568"/>
                  </a:lnTo>
                  <a:cubicBezTo>
                    <a:pt x="964213" y="183013"/>
                    <a:pt x="958077" y="197825"/>
                    <a:pt x="947156" y="208747"/>
                  </a:cubicBezTo>
                  <a:cubicBezTo>
                    <a:pt x="936235" y="219668"/>
                    <a:pt x="921422" y="225804"/>
                    <a:pt x="905977" y="225804"/>
                  </a:cubicBezTo>
                  <a:lnTo>
                    <a:pt x="58236" y="225804"/>
                  </a:lnTo>
                  <a:cubicBezTo>
                    <a:pt x="42791" y="225804"/>
                    <a:pt x="27978" y="219668"/>
                    <a:pt x="17057" y="208747"/>
                  </a:cubicBezTo>
                  <a:cubicBezTo>
                    <a:pt x="6136" y="197825"/>
                    <a:pt x="0" y="183013"/>
                    <a:pt x="0" y="167568"/>
                  </a:cubicBezTo>
                  <a:lnTo>
                    <a:pt x="0" y="58236"/>
                  </a:lnTo>
                  <a:cubicBezTo>
                    <a:pt x="0" y="42791"/>
                    <a:pt x="6136" y="27978"/>
                    <a:pt x="17057" y="17057"/>
                  </a:cubicBezTo>
                  <a:cubicBezTo>
                    <a:pt x="27978" y="6136"/>
                    <a:pt x="42791" y="0"/>
                    <a:pt x="58236" y="0"/>
                  </a:cubicBezTo>
                  <a:close/>
                </a:path>
              </a:pathLst>
            </a:custGeom>
            <a:solidFill>
              <a:srgbClr val="99C6E0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964213" cy="2829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79545" y="1972084"/>
            <a:ext cx="14066846" cy="7910242"/>
          </a:xfrm>
          <a:custGeom>
            <a:avLst/>
            <a:gdLst/>
            <a:ahLst/>
            <a:cxnLst/>
            <a:rect l="l" t="t" r="r" b="b"/>
            <a:pathLst>
              <a:path w="14066846" h="7910242">
                <a:moveTo>
                  <a:pt x="0" y="0"/>
                </a:moveTo>
                <a:lnTo>
                  <a:pt x="14066846" y="0"/>
                </a:lnTo>
                <a:lnTo>
                  <a:pt x="14066846" y="7910242"/>
                </a:lnTo>
                <a:lnTo>
                  <a:pt x="0" y="7910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6" r="-96"/>
            </a:stretch>
          </a:blipFill>
        </p:spPr>
        <p:txBody>
          <a:bodyPr/>
          <a:lstStyle/>
          <a:p>
            <a:endParaRPr lang="es-ES_tradnl"/>
          </a:p>
        </p:txBody>
      </p:sp>
      <p:sp>
        <p:nvSpPr>
          <p:cNvPr id="15" name="Freeform 15"/>
          <p:cNvSpPr/>
          <p:nvPr/>
        </p:nvSpPr>
        <p:spPr>
          <a:xfrm>
            <a:off x="14411825" y="6752115"/>
            <a:ext cx="537606" cy="710777"/>
          </a:xfrm>
          <a:custGeom>
            <a:avLst/>
            <a:gdLst/>
            <a:ahLst/>
            <a:cxnLst/>
            <a:rect l="l" t="t" r="r" b="b"/>
            <a:pathLst>
              <a:path w="537606" h="710777">
                <a:moveTo>
                  <a:pt x="0" y="0"/>
                </a:moveTo>
                <a:lnTo>
                  <a:pt x="537605" y="0"/>
                </a:lnTo>
                <a:lnTo>
                  <a:pt x="537605" y="710777"/>
                </a:lnTo>
                <a:lnTo>
                  <a:pt x="0" y="7107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_tradnl"/>
          </a:p>
        </p:txBody>
      </p:sp>
      <p:sp>
        <p:nvSpPr>
          <p:cNvPr id="16" name="Freeform 16"/>
          <p:cNvSpPr/>
          <p:nvPr/>
        </p:nvSpPr>
        <p:spPr>
          <a:xfrm>
            <a:off x="14248851" y="7922023"/>
            <a:ext cx="700579" cy="699305"/>
          </a:xfrm>
          <a:custGeom>
            <a:avLst/>
            <a:gdLst/>
            <a:ahLst/>
            <a:cxnLst/>
            <a:rect l="l" t="t" r="r" b="b"/>
            <a:pathLst>
              <a:path w="700579" h="699305">
                <a:moveTo>
                  <a:pt x="0" y="0"/>
                </a:moveTo>
                <a:lnTo>
                  <a:pt x="700579" y="0"/>
                </a:lnTo>
                <a:lnTo>
                  <a:pt x="700579" y="699305"/>
                </a:lnTo>
                <a:lnTo>
                  <a:pt x="0" y="6993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_tradnl"/>
          </a:p>
        </p:txBody>
      </p:sp>
      <p:sp>
        <p:nvSpPr>
          <p:cNvPr id="17" name="Freeform 17"/>
          <p:cNvSpPr/>
          <p:nvPr/>
        </p:nvSpPr>
        <p:spPr>
          <a:xfrm>
            <a:off x="14290953" y="5554160"/>
            <a:ext cx="616376" cy="695327"/>
          </a:xfrm>
          <a:custGeom>
            <a:avLst/>
            <a:gdLst/>
            <a:ahLst/>
            <a:cxnLst/>
            <a:rect l="l" t="t" r="r" b="b"/>
            <a:pathLst>
              <a:path w="616376" h="695327">
                <a:moveTo>
                  <a:pt x="0" y="0"/>
                </a:moveTo>
                <a:lnTo>
                  <a:pt x="616376" y="0"/>
                </a:lnTo>
                <a:lnTo>
                  <a:pt x="616376" y="695328"/>
                </a:lnTo>
                <a:lnTo>
                  <a:pt x="0" y="6953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2922" b="-2922"/>
            </a:stretch>
          </a:blipFill>
        </p:spPr>
        <p:txBody>
          <a:bodyPr/>
          <a:lstStyle/>
          <a:p>
            <a:endParaRPr lang="es-ES_tradnl"/>
          </a:p>
        </p:txBody>
      </p:sp>
      <p:sp>
        <p:nvSpPr>
          <p:cNvPr id="18" name="TextBox 18"/>
          <p:cNvSpPr txBox="1"/>
          <p:nvPr/>
        </p:nvSpPr>
        <p:spPr>
          <a:xfrm>
            <a:off x="79545" y="155572"/>
            <a:ext cx="18208455" cy="1313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Caracterización de la Cohorte: Una población marcada por la criticidad pulmonar y cardiaca.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214864" y="5553209"/>
            <a:ext cx="2536133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 b="1" i="1">
                <a:solidFill>
                  <a:srgbClr val="17254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Alta Prevalencia de Daño Pulmonar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214864" y="6721235"/>
            <a:ext cx="2536133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 b="1" i="1">
                <a:solidFill>
                  <a:srgbClr val="17254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Intervención médica activa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214864" y="7864873"/>
            <a:ext cx="2536133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 b="1" i="1">
                <a:solidFill>
                  <a:srgbClr val="17254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Indicio de la Multimorbilidad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994" y="2522980"/>
            <a:ext cx="11737656" cy="6176941"/>
          </a:xfrm>
          <a:custGeom>
            <a:avLst/>
            <a:gdLst/>
            <a:ahLst/>
            <a:cxnLst/>
            <a:rect l="l" t="t" r="r" b="b"/>
            <a:pathLst>
              <a:path w="11737656" h="6176941">
                <a:moveTo>
                  <a:pt x="0" y="0"/>
                </a:moveTo>
                <a:lnTo>
                  <a:pt x="11737656" y="0"/>
                </a:lnTo>
                <a:lnTo>
                  <a:pt x="11737656" y="6176941"/>
                </a:lnTo>
                <a:lnTo>
                  <a:pt x="0" y="6176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_tradnl"/>
          </a:p>
        </p:txBody>
      </p:sp>
      <p:grpSp>
        <p:nvGrpSpPr>
          <p:cNvPr id="3" name="Group 3"/>
          <p:cNvGrpSpPr/>
          <p:nvPr/>
        </p:nvGrpSpPr>
        <p:grpSpPr>
          <a:xfrm>
            <a:off x="12140354" y="3360299"/>
            <a:ext cx="5916234" cy="1214238"/>
            <a:chOff x="0" y="0"/>
            <a:chExt cx="1540107" cy="3160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40107" cy="316089"/>
            </a:xfrm>
            <a:custGeom>
              <a:avLst/>
              <a:gdLst/>
              <a:ahLst/>
              <a:cxnLst/>
              <a:rect l="l" t="t" r="r" b="b"/>
              <a:pathLst>
                <a:path w="1540107" h="316089">
                  <a:moveTo>
                    <a:pt x="37949" y="0"/>
                  </a:moveTo>
                  <a:lnTo>
                    <a:pt x="1502158" y="0"/>
                  </a:lnTo>
                  <a:cubicBezTo>
                    <a:pt x="1512222" y="0"/>
                    <a:pt x="1521875" y="3998"/>
                    <a:pt x="1528992" y="11115"/>
                  </a:cubicBezTo>
                  <a:cubicBezTo>
                    <a:pt x="1536108" y="18232"/>
                    <a:pt x="1540107" y="27884"/>
                    <a:pt x="1540107" y="37949"/>
                  </a:cubicBezTo>
                  <a:lnTo>
                    <a:pt x="1540107" y="278140"/>
                  </a:lnTo>
                  <a:cubicBezTo>
                    <a:pt x="1540107" y="288205"/>
                    <a:pt x="1536108" y="297857"/>
                    <a:pt x="1528992" y="304974"/>
                  </a:cubicBezTo>
                  <a:cubicBezTo>
                    <a:pt x="1521875" y="312091"/>
                    <a:pt x="1512222" y="316089"/>
                    <a:pt x="1502158" y="316089"/>
                  </a:cubicBezTo>
                  <a:lnTo>
                    <a:pt x="37949" y="316089"/>
                  </a:lnTo>
                  <a:cubicBezTo>
                    <a:pt x="27884" y="316089"/>
                    <a:pt x="18232" y="312091"/>
                    <a:pt x="11115" y="304974"/>
                  </a:cubicBezTo>
                  <a:cubicBezTo>
                    <a:pt x="3998" y="297857"/>
                    <a:pt x="0" y="288205"/>
                    <a:pt x="0" y="278140"/>
                  </a:cubicBezTo>
                  <a:lnTo>
                    <a:pt x="0" y="37949"/>
                  </a:lnTo>
                  <a:cubicBezTo>
                    <a:pt x="0" y="27884"/>
                    <a:pt x="3998" y="18232"/>
                    <a:pt x="11115" y="11115"/>
                  </a:cubicBezTo>
                  <a:cubicBezTo>
                    <a:pt x="18232" y="3998"/>
                    <a:pt x="27884" y="0"/>
                    <a:pt x="37949" y="0"/>
                  </a:cubicBezTo>
                  <a:close/>
                </a:path>
              </a:pathLst>
            </a:custGeom>
            <a:solidFill>
              <a:srgbClr val="99C6E0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540107" cy="373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140354" y="4842730"/>
            <a:ext cx="5916234" cy="1183173"/>
            <a:chOff x="0" y="0"/>
            <a:chExt cx="1540107" cy="3080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40107" cy="308002"/>
            </a:xfrm>
            <a:custGeom>
              <a:avLst/>
              <a:gdLst/>
              <a:ahLst/>
              <a:cxnLst/>
              <a:rect l="l" t="t" r="r" b="b"/>
              <a:pathLst>
                <a:path w="1540107" h="308002">
                  <a:moveTo>
                    <a:pt x="37949" y="0"/>
                  </a:moveTo>
                  <a:lnTo>
                    <a:pt x="1502158" y="0"/>
                  </a:lnTo>
                  <a:cubicBezTo>
                    <a:pt x="1512222" y="0"/>
                    <a:pt x="1521875" y="3998"/>
                    <a:pt x="1528992" y="11115"/>
                  </a:cubicBezTo>
                  <a:cubicBezTo>
                    <a:pt x="1536108" y="18232"/>
                    <a:pt x="1540107" y="27884"/>
                    <a:pt x="1540107" y="37949"/>
                  </a:cubicBezTo>
                  <a:lnTo>
                    <a:pt x="1540107" y="270053"/>
                  </a:lnTo>
                  <a:cubicBezTo>
                    <a:pt x="1540107" y="280118"/>
                    <a:pt x="1536108" y="289770"/>
                    <a:pt x="1528992" y="296887"/>
                  </a:cubicBezTo>
                  <a:cubicBezTo>
                    <a:pt x="1521875" y="304004"/>
                    <a:pt x="1512222" y="308002"/>
                    <a:pt x="1502158" y="308002"/>
                  </a:cubicBezTo>
                  <a:lnTo>
                    <a:pt x="37949" y="308002"/>
                  </a:lnTo>
                  <a:cubicBezTo>
                    <a:pt x="27884" y="308002"/>
                    <a:pt x="18232" y="304004"/>
                    <a:pt x="11115" y="296887"/>
                  </a:cubicBezTo>
                  <a:cubicBezTo>
                    <a:pt x="3998" y="289770"/>
                    <a:pt x="0" y="280118"/>
                    <a:pt x="0" y="270053"/>
                  </a:cubicBezTo>
                  <a:lnTo>
                    <a:pt x="0" y="37949"/>
                  </a:lnTo>
                  <a:cubicBezTo>
                    <a:pt x="0" y="27884"/>
                    <a:pt x="3998" y="18232"/>
                    <a:pt x="11115" y="11115"/>
                  </a:cubicBezTo>
                  <a:cubicBezTo>
                    <a:pt x="18232" y="3998"/>
                    <a:pt x="27884" y="0"/>
                    <a:pt x="37949" y="0"/>
                  </a:cubicBezTo>
                  <a:close/>
                </a:path>
              </a:pathLst>
            </a:custGeom>
            <a:solidFill>
              <a:srgbClr val="99C6E0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540107" cy="365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140354" y="6435478"/>
            <a:ext cx="5916234" cy="1214238"/>
            <a:chOff x="0" y="0"/>
            <a:chExt cx="1540107" cy="31608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40107" cy="316089"/>
            </a:xfrm>
            <a:custGeom>
              <a:avLst/>
              <a:gdLst/>
              <a:ahLst/>
              <a:cxnLst/>
              <a:rect l="l" t="t" r="r" b="b"/>
              <a:pathLst>
                <a:path w="1540107" h="316089">
                  <a:moveTo>
                    <a:pt x="37949" y="0"/>
                  </a:moveTo>
                  <a:lnTo>
                    <a:pt x="1502158" y="0"/>
                  </a:lnTo>
                  <a:cubicBezTo>
                    <a:pt x="1512222" y="0"/>
                    <a:pt x="1521875" y="3998"/>
                    <a:pt x="1528992" y="11115"/>
                  </a:cubicBezTo>
                  <a:cubicBezTo>
                    <a:pt x="1536108" y="18232"/>
                    <a:pt x="1540107" y="27884"/>
                    <a:pt x="1540107" y="37949"/>
                  </a:cubicBezTo>
                  <a:lnTo>
                    <a:pt x="1540107" y="278140"/>
                  </a:lnTo>
                  <a:cubicBezTo>
                    <a:pt x="1540107" y="288205"/>
                    <a:pt x="1536108" y="297857"/>
                    <a:pt x="1528992" y="304974"/>
                  </a:cubicBezTo>
                  <a:cubicBezTo>
                    <a:pt x="1521875" y="312091"/>
                    <a:pt x="1512222" y="316089"/>
                    <a:pt x="1502158" y="316089"/>
                  </a:cubicBezTo>
                  <a:lnTo>
                    <a:pt x="37949" y="316089"/>
                  </a:lnTo>
                  <a:cubicBezTo>
                    <a:pt x="27884" y="316089"/>
                    <a:pt x="18232" y="312091"/>
                    <a:pt x="11115" y="304974"/>
                  </a:cubicBezTo>
                  <a:cubicBezTo>
                    <a:pt x="3998" y="297857"/>
                    <a:pt x="0" y="288205"/>
                    <a:pt x="0" y="278140"/>
                  </a:cubicBezTo>
                  <a:lnTo>
                    <a:pt x="0" y="37949"/>
                  </a:lnTo>
                  <a:cubicBezTo>
                    <a:pt x="0" y="27884"/>
                    <a:pt x="3998" y="18232"/>
                    <a:pt x="11115" y="11115"/>
                  </a:cubicBezTo>
                  <a:cubicBezTo>
                    <a:pt x="18232" y="3998"/>
                    <a:pt x="27884" y="0"/>
                    <a:pt x="37949" y="0"/>
                  </a:cubicBezTo>
                  <a:close/>
                </a:path>
              </a:pathLst>
            </a:custGeom>
            <a:solidFill>
              <a:srgbClr val="99C6E0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540107" cy="373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61495" y="-1278387"/>
            <a:ext cx="18610990" cy="3020317"/>
            <a:chOff x="0" y="0"/>
            <a:chExt cx="4901660" cy="79547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901660" cy="795474"/>
            </a:xfrm>
            <a:custGeom>
              <a:avLst/>
              <a:gdLst/>
              <a:ahLst/>
              <a:cxnLst/>
              <a:rect l="l" t="t" r="r" b="b"/>
              <a:pathLst>
                <a:path w="4901660" h="795474">
                  <a:moveTo>
                    <a:pt x="0" y="0"/>
                  </a:moveTo>
                  <a:lnTo>
                    <a:pt x="4901660" y="0"/>
                  </a:lnTo>
                  <a:lnTo>
                    <a:pt x="4901660" y="795474"/>
                  </a:lnTo>
                  <a:lnTo>
                    <a:pt x="0" y="795474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4901660" cy="8526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2388494" y="3575276"/>
            <a:ext cx="800290" cy="784284"/>
          </a:xfrm>
          <a:custGeom>
            <a:avLst/>
            <a:gdLst/>
            <a:ahLst/>
            <a:cxnLst/>
            <a:rect l="l" t="t" r="r" b="b"/>
            <a:pathLst>
              <a:path w="800290" h="784284">
                <a:moveTo>
                  <a:pt x="0" y="0"/>
                </a:moveTo>
                <a:lnTo>
                  <a:pt x="800290" y="0"/>
                </a:lnTo>
                <a:lnTo>
                  <a:pt x="800290" y="784284"/>
                </a:lnTo>
                <a:lnTo>
                  <a:pt x="0" y="7842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_tradnl"/>
          </a:p>
        </p:txBody>
      </p:sp>
      <p:sp>
        <p:nvSpPr>
          <p:cNvPr id="16" name="Freeform 16"/>
          <p:cNvSpPr/>
          <p:nvPr/>
        </p:nvSpPr>
        <p:spPr>
          <a:xfrm>
            <a:off x="12388494" y="4968015"/>
            <a:ext cx="898202" cy="859008"/>
          </a:xfrm>
          <a:custGeom>
            <a:avLst/>
            <a:gdLst/>
            <a:ahLst/>
            <a:cxnLst/>
            <a:rect l="l" t="t" r="r" b="b"/>
            <a:pathLst>
              <a:path w="898202" h="859008">
                <a:moveTo>
                  <a:pt x="0" y="0"/>
                </a:moveTo>
                <a:lnTo>
                  <a:pt x="898203" y="0"/>
                </a:lnTo>
                <a:lnTo>
                  <a:pt x="898203" y="859008"/>
                </a:lnTo>
                <a:lnTo>
                  <a:pt x="0" y="8590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_tradnl"/>
          </a:p>
        </p:txBody>
      </p:sp>
      <p:sp>
        <p:nvSpPr>
          <p:cNvPr id="17" name="Freeform 17"/>
          <p:cNvSpPr/>
          <p:nvPr/>
        </p:nvSpPr>
        <p:spPr>
          <a:xfrm>
            <a:off x="12388494" y="6533452"/>
            <a:ext cx="898202" cy="971201"/>
          </a:xfrm>
          <a:custGeom>
            <a:avLst/>
            <a:gdLst/>
            <a:ahLst/>
            <a:cxnLst/>
            <a:rect l="l" t="t" r="r" b="b"/>
            <a:pathLst>
              <a:path w="898202" h="971201">
                <a:moveTo>
                  <a:pt x="0" y="0"/>
                </a:moveTo>
                <a:lnTo>
                  <a:pt x="898203" y="0"/>
                </a:lnTo>
                <a:lnTo>
                  <a:pt x="898203" y="971201"/>
                </a:lnTo>
                <a:lnTo>
                  <a:pt x="0" y="9712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_tradnl"/>
          </a:p>
        </p:txBody>
      </p:sp>
      <p:sp>
        <p:nvSpPr>
          <p:cNvPr id="18" name="TextBox 18"/>
          <p:cNvSpPr txBox="1"/>
          <p:nvPr/>
        </p:nvSpPr>
        <p:spPr>
          <a:xfrm>
            <a:off x="532290" y="419100"/>
            <a:ext cx="17172419" cy="7514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2787" lvl="1" indent="-216393" algn="ctr">
              <a:lnSpc>
                <a:spcPts val="2806"/>
              </a:lnSpc>
              <a:spcBef>
                <a:spcPct val="0"/>
              </a:spcBef>
              <a:buFont typeface="Arial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¿</a:t>
            </a:r>
            <a:r>
              <a:rPr lang="en-US" sz="32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Cómo</a:t>
            </a:r>
            <a:r>
              <a:rPr lang="en-US" sz="32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evoluciona</a:t>
            </a:r>
            <a:r>
              <a:rPr lang="en-US" sz="32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32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complejidad</a:t>
            </a:r>
            <a:r>
              <a:rPr lang="en-US" sz="32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del </a:t>
            </a:r>
            <a:r>
              <a:rPr lang="en-US" sz="32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cuadro</a:t>
            </a:r>
            <a:r>
              <a:rPr lang="en-US" sz="32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clínico</a:t>
            </a:r>
            <a:r>
              <a:rPr lang="en-US" sz="32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(carga </a:t>
            </a:r>
            <a:r>
              <a:rPr lang="en-US" sz="32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patológica</a:t>
            </a:r>
            <a:r>
              <a:rPr lang="en-US" sz="32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) a </a:t>
            </a:r>
            <a:r>
              <a:rPr lang="en-US" sz="32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medida</a:t>
            </a:r>
            <a:r>
              <a:rPr lang="en-US" sz="32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que</a:t>
            </a:r>
            <a:r>
              <a:rPr lang="en-US" sz="32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32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paciente</a:t>
            </a:r>
            <a:r>
              <a:rPr lang="en-US" sz="32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envejece</a:t>
            </a:r>
            <a:r>
              <a:rPr lang="en-US" sz="32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32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diferenciando</a:t>
            </a:r>
            <a:r>
              <a:rPr lang="en-US" sz="32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por</a:t>
            </a:r>
            <a:r>
              <a:rPr lang="en-US" sz="32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género</a:t>
            </a:r>
            <a:r>
              <a:rPr lang="en-US" sz="32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lang="en-US" sz="2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3467323" y="3583243"/>
            <a:ext cx="4237386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 b="1" i="1">
                <a:solidFill>
                  <a:srgbClr val="17254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Incremento lineal</a:t>
            </a:r>
            <a:r>
              <a:rPr lang="en-US" sz="1800" i="1">
                <a:solidFill>
                  <a:srgbClr val="17254E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sostenido desde los 18 hasta los 75+ años.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467323" y="5042914"/>
            <a:ext cx="4237386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 b="1" i="1">
                <a:solidFill>
                  <a:srgbClr val="17254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Comportamiento casi idéntico</a:t>
            </a:r>
            <a:r>
              <a:rPr lang="en-US" sz="1800" i="1">
                <a:solidFill>
                  <a:srgbClr val="17254E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entre </a:t>
            </a:r>
            <a:r>
              <a:rPr lang="en-US" sz="1800" b="1" i="1">
                <a:solidFill>
                  <a:srgbClr val="17254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hombres y mujeres.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467323" y="6476302"/>
            <a:ext cx="4237386" cy="954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 i="1">
                <a:solidFill>
                  <a:srgbClr val="17254E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El </a:t>
            </a:r>
            <a:r>
              <a:rPr lang="en-US" sz="1800" b="1" i="1">
                <a:solidFill>
                  <a:srgbClr val="17254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grupo de 75+</a:t>
            </a:r>
            <a:r>
              <a:rPr lang="en-US" sz="1800" i="1">
                <a:solidFill>
                  <a:srgbClr val="17254E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alcanza un promedio de </a:t>
            </a:r>
            <a:r>
              <a:rPr lang="en-US" sz="1800" b="1" i="1">
                <a:solidFill>
                  <a:srgbClr val="17254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&gt;5 hallazgos</a:t>
            </a:r>
            <a:r>
              <a:rPr lang="en-US" sz="1800" i="1">
                <a:solidFill>
                  <a:srgbClr val="17254E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por paciente.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365" y="2334650"/>
            <a:ext cx="13110295" cy="6923650"/>
          </a:xfrm>
          <a:custGeom>
            <a:avLst/>
            <a:gdLst/>
            <a:ahLst/>
            <a:cxnLst/>
            <a:rect l="l" t="t" r="r" b="b"/>
            <a:pathLst>
              <a:path w="13110295" h="6923650">
                <a:moveTo>
                  <a:pt x="0" y="0"/>
                </a:moveTo>
                <a:lnTo>
                  <a:pt x="13110295" y="0"/>
                </a:lnTo>
                <a:lnTo>
                  <a:pt x="13110295" y="6923650"/>
                </a:lnTo>
                <a:lnTo>
                  <a:pt x="0" y="6923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5" r="-9"/>
            </a:stretch>
          </a:blipFill>
        </p:spPr>
        <p:txBody>
          <a:bodyPr/>
          <a:lstStyle/>
          <a:p>
            <a:endParaRPr lang="es-ES_tradnl"/>
          </a:p>
        </p:txBody>
      </p:sp>
      <p:grpSp>
        <p:nvGrpSpPr>
          <p:cNvPr id="3" name="Group 3"/>
          <p:cNvGrpSpPr/>
          <p:nvPr/>
        </p:nvGrpSpPr>
        <p:grpSpPr>
          <a:xfrm>
            <a:off x="-161495" y="-1278387"/>
            <a:ext cx="18610990" cy="3020317"/>
            <a:chOff x="0" y="0"/>
            <a:chExt cx="4901660" cy="7954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01660" cy="795474"/>
            </a:xfrm>
            <a:custGeom>
              <a:avLst/>
              <a:gdLst/>
              <a:ahLst/>
              <a:cxnLst/>
              <a:rect l="l" t="t" r="r" b="b"/>
              <a:pathLst>
                <a:path w="4901660" h="795474">
                  <a:moveTo>
                    <a:pt x="0" y="0"/>
                  </a:moveTo>
                  <a:lnTo>
                    <a:pt x="4901660" y="0"/>
                  </a:lnTo>
                  <a:lnTo>
                    <a:pt x="4901660" y="795474"/>
                  </a:lnTo>
                  <a:lnTo>
                    <a:pt x="0" y="795474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901660" cy="8526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257839"/>
            <a:ext cx="16826398" cy="8905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58"/>
              </a:lnSpc>
            </a:pPr>
            <a:r>
              <a:rPr lang="en-US" sz="2800" b="1" dirty="0">
                <a:solidFill>
                  <a:schemeClr val="bg1"/>
                </a:solidFill>
                <a:latin typeface="Poppins"/>
                <a:cs typeface="Poppins"/>
                <a:sym typeface="Poppins"/>
              </a:rPr>
              <a:t>¿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cs typeface="Poppins"/>
                <a:sym typeface="Poppins"/>
              </a:rPr>
              <a:t>Qué</a:t>
            </a:r>
            <a:r>
              <a:rPr lang="en-US" sz="2800" b="1" dirty="0">
                <a:solidFill>
                  <a:schemeClr val="bg1"/>
                </a:solidFill>
                <a:latin typeface="Poppins"/>
                <a:cs typeface="Poppins"/>
                <a:sym typeface="Poppins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cs typeface="Poppins"/>
                <a:sym typeface="Poppins"/>
              </a:rPr>
              <a:t>perfil</a:t>
            </a:r>
            <a:r>
              <a:rPr lang="en-US" sz="2800" b="1" dirty="0">
                <a:solidFill>
                  <a:schemeClr val="bg1"/>
                </a:solidFill>
                <a:latin typeface="Poppins"/>
                <a:cs typeface="Poppins"/>
                <a:sym typeface="Poppins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demográfico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presenta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la mayor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tasa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radiografías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sin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hallazgos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patológicos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("No Finding")?</a:t>
            </a:r>
            <a:endParaRPr lang="en-US" sz="2800" b="1" dirty="0">
              <a:solidFill>
                <a:schemeClr val="bg1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259110" y="3516921"/>
            <a:ext cx="4710288" cy="4601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0"/>
              </a:lnSpc>
              <a:spcBef>
                <a:spcPct val="0"/>
              </a:spcBef>
            </a:pPr>
            <a:r>
              <a:rPr lang="en-US" sz="16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Métrica</a:t>
            </a:r>
            <a:r>
              <a:rPr lang="en-US" sz="16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Porcentaje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radiografías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reportadas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"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Normales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 (sin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hallazgos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patológicos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</a:p>
          <a:p>
            <a:pPr algn="just">
              <a:lnSpc>
                <a:spcPts val="2380"/>
              </a:lnSpc>
              <a:spcBef>
                <a:spcPct val="0"/>
              </a:spcBef>
            </a:pPr>
            <a:endParaRPr lang="en-US" sz="16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380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Mayor </a:t>
            </a:r>
            <a:r>
              <a:rPr lang="en-US" sz="16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tasa</a:t>
            </a:r>
            <a:r>
              <a:rPr lang="en-US" sz="16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de </a:t>
            </a:r>
            <a:r>
              <a:rPr lang="en-US" sz="16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normalidad</a:t>
            </a:r>
            <a:r>
              <a:rPr lang="en-US" sz="16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El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grupo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Nativo de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Hawái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/ Islas del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Pacífico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lidera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con un 16.9%,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superando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promedio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global (13.6%).</a:t>
            </a:r>
          </a:p>
          <a:p>
            <a:pPr algn="just">
              <a:lnSpc>
                <a:spcPts val="2380"/>
              </a:lnSpc>
              <a:spcBef>
                <a:spcPct val="0"/>
              </a:spcBef>
            </a:pPr>
            <a:endParaRPr lang="en-US" sz="16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380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El </a:t>
            </a:r>
            <a:r>
              <a:rPr lang="en-US" sz="16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caso</a:t>
            </a:r>
            <a:r>
              <a:rPr lang="en-US" sz="16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de </a:t>
            </a:r>
            <a:r>
              <a:rPr lang="en-US" sz="16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los</a:t>
            </a:r>
            <a:r>
              <a:rPr lang="en-US" sz="16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"No </a:t>
            </a:r>
            <a:r>
              <a:rPr lang="en-US" sz="16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Reportados</a:t>
            </a:r>
            <a:r>
              <a:rPr lang="en-US" sz="16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": 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grupo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con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datos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desconocidos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presenta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tasa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baja de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normalidad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(9.1%).</a:t>
            </a:r>
          </a:p>
          <a:p>
            <a:pPr algn="just">
              <a:lnSpc>
                <a:spcPts val="2380"/>
              </a:lnSpc>
              <a:spcBef>
                <a:spcPct val="0"/>
              </a:spcBef>
            </a:pPr>
            <a:endParaRPr lang="en-US" sz="16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380"/>
              </a:lnSpc>
              <a:spcBef>
                <a:spcPct val="0"/>
              </a:spcBef>
            </a:pPr>
            <a:r>
              <a:rPr lang="en-US" sz="16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Disparidad</a:t>
            </a:r>
            <a:r>
              <a:rPr lang="en-US" sz="16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Existe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una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brecha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casi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8 puntos </a:t>
            </a:r>
            <a:r>
              <a:rPr lang="en-US" sz="16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porcentuales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entre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grupo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con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menos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estudios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normales</a:t>
            </a:r>
            <a:r>
              <a:rPr lang="en-US" sz="1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1495" y="-53747"/>
            <a:ext cx="18610990" cy="1765506"/>
            <a:chOff x="0" y="0"/>
            <a:chExt cx="4901660" cy="7954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01660" cy="795474"/>
            </a:xfrm>
            <a:custGeom>
              <a:avLst/>
              <a:gdLst/>
              <a:ahLst/>
              <a:cxnLst/>
              <a:rect l="l" t="t" r="r" b="b"/>
              <a:pathLst>
                <a:path w="4901660" h="795474">
                  <a:moveTo>
                    <a:pt x="0" y="0"/>
                  </a:moveTo>
                  <a:lnTo>
                    <a:pt x="4901660" y="0"/>
                  </a:lnTo>
                  <a:lnTo>
                    <a:pt x="4901660" y="795474"/>
                  </a:lnTo>
                  <a:lnTo>
                    <a:pt x="0" y="795474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901660" cy="8526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1714500"/>
            <a:ext cx="9262949" cy="8545070"/>
          </a:xfrm>
          <a:custGeom>
            <a:avLst/>
            <a:gdLst/>
            <a:ahLst/>
            <a:cxnLst/>
            <a:rect l="l" t="t" r="r" b="b"/>
            <a:pathLst>
              <a:path w="9262949" h="8545070">
                <a:moveTo>
                  <a:pt x="0" y="0"/>
                </a:moveTo>
                <a:lnTo>
                  <a:pt x="9262949" y="0"/>
                </a:lnTo>
                <a:lnTo>
                  <a:pt x="9262949" y="8545070"/>
                </a:lnTo>
                <a:lnTo>
                  <a:pt x="0" y="85450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_tradnl"/>
          </a:p>
        </p:txBody>
      </p:sp>
      <p:sp>
        <p:nvSpPr>
          <p:cNvPr id="6" name="TextBox 6"/>
          <p:cNvSpPr txBox="1"/>
          <p:nvPr/>
        </p:nvSpPr>
        <p:spPr>
          <a:xfrm>
            <a:off x="10802756" y="2632876"/>
            <a:ext cx="6652805" cy="200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just">
              <a:lnSpc>
                <a:spcPts val="2659"/>
              </a:lnSpc>
              <a:buFont typeface="Arial"/>
              <a:buChar char="•"/>
            </a:pPr>
            <a:r>
              <a:rPr lang="en-US" sz="1899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Contexto</a:t>
            </a:r>
            <a:r>
              <a:rPr lang="en-US" sz="18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  <a:r>
              <a:rPr lang="en-US" sz="18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base de </a:t>
            </a:r>
            <a:r>
              <a:rPr lang="en-US" sz="18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datos</a:t>
            </a:r>
            <a:r>
              <a:rPr lang="en-US" sz="18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contiene</a:t>
            </a:r>
            <a:r>
              <a:rPr lang="en-US" sz="18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proyecciones</a:t>
            </a:r>
            <a:r>
              <a:rPr lang="en-US" sz="18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PA  (</a:t>
            </a:r>
            <a:r>
              <a:rPr lang="en-US" sz="18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estándar</a:t>
            </a:r>
            <a:r>
              <a:rPr lang="en-US" sz="18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 y AP. Este </a:t>
            </a:r>
            <a:r>
              <a:rPr lang="en-US" sz="18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análisis</a:t>
            </a:r>
            <a:r>
              <a:rPr lang="en-US" sz="18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se centra </a:t>
            </a:r>
            <a:r>
              <a:rPr lang="en-US" sz="18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18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899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radiografías</a:t>
            </a:r>
            <a:r>
              <a:rPr lang="en-US" sz="18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899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</a:t>
            </a:r>
            <a:r>
              <a:rPr lang="en-US" sz="18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899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proyección</a:t>
            </a:r>
            <a:r>
              <a:rPr lang="en-US" sz="18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PA.</a:t>
            </a:r>
          </a:p>
          <a:p>
            <a:pPr algn="just">
              <a:lnSpc>
                <a:spcPts val="2659"/>
              </a:lnSpc>
            </a:pPr>
            <a:endParaRPr lang="en-US" sz="1899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410209" lvl="1" indent="-205105" algn="just">
              <a:lnSpc>
                <a:spcPts val="2659"/>
              </a:lnSpc>
              <a:buFont typeface="Arial"/>
              <a:buChar char="•"/>
            </a:pPr>
            <a:r>
              <a:rPr lang="en-US" sz="1899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Métrica</a:t>
            </a:r>
            <a:r>
              <a:rPr lang="en-US" sz="18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  <a:r>
              <a:rPr lang="en-US" sz="1899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Índice</a:t>
            </a:r>
            <a:r>
              <a:rPr lang="en-US" sz="18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de Jaccard</a:t>
            </a:r>
            <a:r>
              <a:rPr lang="en-US" sz="18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(0 a 1) para </a:t>
            </a:r>
            <a:r>
              <a:rPr lang="en-US" sz="18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medir</a:t>
            </a:r>
            <a:r>
              <a:rPr lang="en-US" sz="18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18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fuerza</a:t>
            </a:r>
            <a:r>
              <a:rPr lang="en-US" sz="18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 la </a:t>
            </a:r>
            <a:r>
              <a:rPr lang="en-US" sz="18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asociación</a:t>
            </a:r>
            <a:r>
              <a:rPr lang="en-US" sz="18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entre </a:t>
            </a:r>
            <a:r>
              <a:rPr lang="en-US" sz="18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patologías</a:t>
            </a:r>
            <a:r>
              <a:rPr lang="en-US" sz="18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62507" y="5964556"/>
            <a:ext cx="7174132" cy="300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just">
              <a:lnSpc>
                <a:spcPts val="2659"/>
              </a:lnSpc>
              <a:buFont typeface="Arial"/>
              <a:buChar char="•"/>
            </a:pP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Complejo de Insuficiencia Cardiaca (Rojo): 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Cardiomegalia muestra fuerte co-ocurrencia con </a:t>
            </a: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Opacidad del pulmón (0.77) y Edema (0.72)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indicando cuadros de falla cardiaca.</a:t>
            </a:r>
          </a:p>
          <a:p>
            <a:pPr algn="just">
              <a:lnSpc>
                <a:spcPts val="2659"/>
              </a:lnSpc>
            </a:pPr>
            <a:endParaRPr lang="en-US" sz="18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0209" lvl="1" indent="-205105" algn="just">
              <a:lnSpc>
                <a:spcPts val="2659"/>
              </a:lnSpc>
              <a:buFont typeface="Arial"/>
              <a:buChar char="•"/>
            </a:pP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Perfil de Compromiso Pulmonar (Naranja):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La Atelectasia está fuertemente ligada a </a:t>
            </a: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Pleural Effusion (0.81) y Consolidation (0.71)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sugiriendo compromiso respiratorio severo.</a:t>
            </a:r>
          </a:p>
        </p:txBody>
      </p:sp>
      <p:sp>
        <p:nvSpPr>
          <p:cNvPr id="8" name="AutoShape 8"/>
          <p:cNvSpPr/>
          <p:nvPr/>
        </p:nvSpPr>
        <p:spPr>
          <a:xfrm>
            <a:off x="10723171" y="5563134"/>
            <a:ext cx="691346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_tradnl"/>
          </a:p>
        </p:txBody>
      </p:sp>
      <p:sp>
        <p:nvSpPr>
          <p:cNvPr id="9" name="TextBox 9"/>
          <p:cNvSpPr txBox="1"/>
          <p:nvPr/>
        </p:nvSpPr>
        <p:spPr>
          <a:xfrm>
            <a:off x="762000" y="252319"/>
            <a:ext cx="16992600" cy="7360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6394" lvl="1" algn="ctr">
              <a:lnSpc>
                <a:spcPts val="2806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¿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Qué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patrones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clínicos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están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estrechamente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asociados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con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patologías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cardiacas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cardiomegalia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) y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pulmonares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atelectasis)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específicamente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las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radiografías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PA?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1495" y="-1278387"/>
            <a:ext cx="18610990" cy="3020317"/>
            <a:chOff x="0" y="0"/>
            <a:chExt cx="4901660" cy="7954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01660" cy="795474"/>
            </a:xfrm>
            <a:custGeom>
              <a:avLst/>
              <a:gdLst/>
              <a:ahLst/>
              <a:cxnLst/>
              <a:rect l="l" t="t" r="r" b="b"/>
              <a:pathLst>
                <a:path w="4901660" h="795474">
                  <a:moveTo>
                    <a:pt x="0" y="0"/>
                  </a:moveTo>
                  <a:lnTo>
                    <a:pt x="4901660" y="0"/>
                  </a:lnTo>
                  <a:lnTo>
                    <a:pt x="4901660" y="795474"/>
                  </a:lnTo>
                  <a:lnTo>
                    <a:pt x="0" y="795474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901660" cy="8526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92313" y="1958922"/>
            <a:ext cx="10852693" cy="7595614"/>
          </a:xfrm>
          <a:custGeom>
            <a:avLst/>
            <a:gdLst/>
            <a:ahLst/>
            <a:cxnLst/>
            <a:rect l="l" t="t" r="r" b="b"/>
            <a:pathLst>
              <a:path w="10852693" h="7637583">
                <a:moveTo>
                  <a:pt x="0" y="0"/>
                </a:moveTo>
                <a:lnTo>
                  <a:pt x="10852693" y="0"/>
                </a:lnTo>
                <a:lnTo>
                  <a:pt x="10852693" y="7637582"/>
                </a:lnTo>
                <a:lnTo>
                  <a:pt x="0" y="76375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_tradnl" dirty="0"/>
          </a:p>
        </p:txBody>
      </p:sp>
      <p:sp>
        <p:nvSpPr>
          <p:cNvPr id="6" name="TextBox 6"/>
          <p:cNvSpPr txBox="1"/>
          <p:nvPr/>
        </p:nvSpPr>
        <p:spPr>
          <a:xfrm>
            <a:off x="990600" y="485244"/>
            <a:ext cx="15506040" cy="736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6394" lvl="1" algn="ctr">
              <a:lnSpc>
                <a:spcPts val="2806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¿Es la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presencia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dispositivos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médicos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soporte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un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indicador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confiable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una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alta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carga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patológica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paciente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031867" y="3434080"/>
            <a:ext cx="6806340" cy="283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Métrica :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Promedio del índice de carga patológica</a:t>
            </a:r>
          </a:p>
          <a:p>
            <a:pPr algn="ctr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presencia de </a:t>
            </a: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soporte vital eleva el promedio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 3.70 a 5.51 hallazgos </a:t>
            </a: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(+49.1%).</a:t>
            </a:r>
          </a:p>
          <a:p>
            <a:pPr algn="ctr">
              <a:lnSpc>
                <a:spcPts val="2800"/>
              </a:lnSpc>
            </a:pPr>
            <a:endParaRPr lang="en-US" sz="20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Interpretación de Severidad:</a:t>
            </a:r>
          </a:p>
          <a:p>
            <a:pPr algn="l">
              <a:lnSpc>
                <a:spcPts val="2800"/>
              </a:lnSpc>
            </a:pPr>
            <a:endParaRPr lang="en-US" sz="20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780954" y="6202680"/>
            <a:ext cx="6057253" cy="177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*Sin Soporte: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Tendencia a severidad    leve/moderada (Grado 0-1).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*Con Soporte: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Fuerte asociación con Severidad Grave (Grado 2).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" y="1741930"/>
            <a:ext cx="11422473" cy="8545070"/>
          </a:xfrm>
          <a:custGeom>
            <a:avLst/>
            <a:gdLst/>
            <a:ahLst/>
            <a:cxnLst/>
            <a:rect l="l" t="t" r="r" b="b"/>
            <a:pathLst>
              <a:path w="11422473" h="8545070">
                <a:moveTo>
                  <a:pt x="0" y="0"/>
                </a:moveTo>
                <a:lnTo>
                  <a:pt x="11422473" y="0"/>
                </a:lnTo>
                <a:lnTo>
                  <a:pt x="11422473" y="8545070"/>
                </a:lnTo>
                <a:lnTo>
                  <a:pt x="0" y="85450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23"/>
            </a:stretch>
          </a:blipFill>
        </p:spPr>
        <p:txBody>
          <a:bodyPr/>
          <a:lstStyle/>
          <a:p>
            <a:endParaRPr lang="es-ES_tradnl"/>
          </a:p>
        </p:txBody>
      </p:sp>
      <p:grpSp>
        <p:nvGrpSpPr>
          <p:cNvPr id="3" name="Group 3"/>
          <p:cNvGrpSpPr/>
          <p:nvPr/>
        </p:nvGrpSpPr>
        <p:grpSpPr>
          <a:xfrm>
            <a:off x="-161495" y="-1278387"/>
            <a:ext cx="18610990" cy="3020317"/>
            <a:chOff x="0" y="0"/>
            <a:chExt cx="4901660" cy="7954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01660" cy="795474"/>
            </a:xfrm>
            <a:custGeom>
              <a:avLst/>
              <a:gdLst/>
              <a:ahLst/>
              <a:cxnLst/>
              <a:rect l="l" t="t" r="r" b="b"/>
              <a:pathLst>
                <a:path w="4901660" h="795474">
                  <a:moveTo>
                    <a:pt x="0" y="0"/>
                  </a:moveTo>
                  <a:lnTo>
                    <a:pt x="4901660" y="0"/>
                  </a:lnTo>
                  <a:lnTo>
                    <a:pt x="4901660" y="795474"/>
                  </a:lnTo>
                  <a:lnTo>
                    <a:pt x="0" y="795474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901660" cy="8526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435557"/>
            <a:ext cx="15947557" cy="751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2787" lvl="1" indent="-216393" algn="ctr">
              <a:lnSpc>
                <a:spcPts val="2806"/>
              </a:lnSpc>
              <a:spcBef>
                <a:spcPct val="0"/>
              </a:spcBef>
              <a:buFont typeface="Arial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¿Como se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examina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la raza y la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edad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factor de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riesgo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para la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complejidad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del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cuadro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clínico</a:t>
            </a:r>
            <a:r>
              <a:rPr lang="en-US" sz="2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619268" y="2531717"/>
            <a:ext cx="6486769" cy="4676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Modelo: 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Regresión Logística Ordinal para predecir probabilidad de complejidad (0 -&gt; 1 -&gt;2).</a:t>
            </a:r>
          </a:p>
          <a:p>
            <a:pPr algn="l">
              <a:lnSpc>
                <a:spcPts val="2659"/>
              </a:lnSpc>
            </a:pPr>
            <a:endParaRPr lang="en-US" sz="18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Edad: 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Efecto escalonado claro. </a:t>
            </a: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Ser mayor de 75 años aumenta el riesgo 3.5 veces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(Odds Ratio).</a:t>
            </a:r>
          </a:p>
          <a:p>
            <a:pPr algn="l">
              <a:lnSpc>
                <a:spcPts val="2659"/>
              </a:lnSpc>
            </a:pPr>
            <a:endParaRPr lang="en-US" sz="18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Soporte Vital: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Tener dispositivos médicos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conlleva un </a:t>
            </a: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riesgo de 3.4x,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casi equivalente a tener 75 años.</a:t>
            </a:r>
          </a:p>
          <a:p>
            <a:pPr algn="l">
              <a:lnSpc>
                <a:spcPts val="2659"/>
              </a:lnSpc>
            </a:pPr>
            <a:endParaRPr lang="en-US" sz="18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Raza/Etnia: 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Muestra un impacto menor ("</a:t>
            </a: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factores protectores" o de menor riesgo relativo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 en comparación con la edad y la intervención médica.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1495" y="-1278387"/>
            <a:ext cx="18610990" cy="3020317"/>
            <a:chOff x="0" y="0"/>
            <a:chExt cx="4901660" cy="7954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01660" cy="795474"/>
            </a:xfrm>
            <a:custGeom>
              <a:avLst/>
              <a:gdLst/>
              <a:ahLst/>
              <a:cxnLst/>
              <a:rect l="l" t="t" r="r" b="b"/>
              <a:pathLst>
                <a:path w="4901660" h="795474">
                  <a:moveTo>
                    <a:pt x="0" y="0"/>
                  </a:moveTo>
                  <a:lnTo>
                    <a:pt x="4901660" y="0"/>
                  </a:lnTo>
                  <a:lnTo>
                    <a:pt x="4901660" y="795474"/>
                  </a:lnTo>
                  <a:lnTo>
                    <a:pt x="0" y="795474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901660" cy="8526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588919" y="2325017"/>
            <a:ext cx="14624783" cy="1214238"/>
            <a:chOff x="0" y="0"/>
            <a:chExt cx="3807105" cy="3160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07105" cy="316089"/>
            </a:xfrm>
            <a:custGeom>
              <a:avLst/>
              <a:gdLst/>
              <a:ahLst/>
              <a:cxnLst/>
              <a:rect l="l" t="t" r="r" b="b"/>
              <a:pathLst>
                <a:path w="3807105" h="316089">
                  <a:moveTo>
                    <a:pt x="15352" y="0"/>
                  </a:moveTo>
                  <a:lnTo>
                    <a:pt x="3791753" y="0"/>
                  </a:lnTo>
                  <a:cubicBezTo>
                    <a:pt x="3800232" y="0"/>
                    <a:pt x="3807105" y="6873"/>
                    <a:pt x="3807105" y="15352"/>
                  </a:cubicBezTo>
                  <a:lnTo>
                    <a:pt x="3807105" y="300737"/>
                  </a:lnTo>
                  <a:cubicBezTo>
                    <a:pt x="3807105" y="309216"/>
                    <a:pt x="3800232" y="316089"/>
                    <a:pt x="3791753" y="316089"/>
                  </a:cubicBezTo>
                  <a:lnTo>
                    <a:pt x="15352" y="316089"/>
                  </a:lnTo>
                  <a:cubicBezTo>
                    <a:pt x="11280" y="316089"/>
                    <a:pt x="7375" y="314472"/>
                    <a:pt x="4496" y="311593"/>
                  </a:cubicBezTo>
                  <a:cubicBezTo>
                    <a:pt x="1617" y="308714"/>
                    <a:pt x="0" y="304809"/>
                    <a:pt x="0" y="300737"/>
                  </a:cubicBezTo>
                  <a:lnTo>
                    <a:pt x="0" y="15352"/>
                  </a:lnTo>
                  <a:cubicBezTo>
                    <a:pt x="0" y="6873"/>
                    <a:pt x="6873" y="0"/>
                    <a:pt x="15352" y="0"/>
                  </a:cubicBez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3807105" cy="373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607969" y="3872188"/>
            <a:ext cx="14624783" cy="1214238"/>
            <a:chOff x="0" y="0"/>
            <a:chExt cx="3807105" cy="31608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807105" cy="316089"/>
            </a:xfrm>
            <a:custGeom>
              <a:avLst/>
              <a:gdLst/>
              <a:ahLst/>
              <a:cxnLst/>
              <a:rect l="l" t="t" r="r" b="b"/>
              <a:pathLst>
                <a:path w="3807105" h="316089">
                  <a:moveTo>
                    <a:pt x="15352" y="0"/>
                  </a:moveTo>
                  <a:lnTo>
                    <a:pt x="3791753" y="0"/>
                  </a:lnTo>
                  <a:cubicBezTo>
                    <a:pt x="3800232" y="0"/>
                    <a:pt x="3807105" y="6873"/>
                    <a:pt x="3807105" y="15352"/>
                  </a:cubicBezTo>
                  <a:lnTo>
                    <a:pt x="3807105" y="300737"/>
                  </a:lnTo>
                  <a:cubicBezTo>
                    <a:pt x="3807105" y="309216"/>
                    <a:pt x="3800232" y="316089"/>
                    <a:pt x="3791753" y="316089"/>
                  </a:cubicBezTo>
                  <a:lnTo>
                    <a:pt x="15352" y="316089"/>
                  </a:lnTo>
                  <a:cubicBezTo>
                    <a:pt x="11280" y="316089"/>
                    <a:pt x="7375" y="314472"/>
                    <a:pt x="4496" y="311593"/>
                  </a:cubicBezTo>
                  <a:cubicBezTo>
                    <a:pt x="1617" y="308714"/>
                    <a:pt x="0" y="304809"/>
                    <a:pt x="0" y="300737"/>
                  </a:cubicBezTo>
                  <a:lnTo>
                    <a:pt x="0" y="15352"/>
                  </a:lnTo>
                  <a:cubicBezTo>
                    <a:pt x="0" y="6873"/>
                    <a:pt x="6873" y="0"/>
                    <a:pt x="15352" y="0"/>
                  </a:cubicBez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3807105" cy="373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634517" y="5391226"/>
            <a:ext cx="14624783" cy="1214238"/>
            <a:chOff x="0" y="0"/>
            <a:chExt cx="3807105" cy="31608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07105" cy="316089"/>
            </a:xfrm>
            <a:custGeom>
              <a:avLst/>
              <a:gdLst/>
              <a:ahLst/>
              <a:cxnLst/>
              <a:rect l="l" t="t" r="r" b="b"/>
              <a:pathLst>
                <a:path w="3807105" h="316089">
                  <a:moveTo>
                    <a:pt x="15352" y="0"/>
                  </a:moveTo>
                  <a:lnTo>
                    <a:pt x="3791753" y="0"/>
                  </a:lnTo>
                  <a:cubicBezTo>
                    <a:pt x="3800232" y="0"/>
                    <a:pt x="3807105" y="6873"/>
                    <a:pt x="3807105" y="15352"/>
                  </a:cubicBezTo>
                  <a:lnTo>
                    <a:pt x="3807105" y="300737"/>
                  </a:lnTo>
                  <a:cubicBezTo>
                    <a:pt x="3807105" y="309216"/>
                    <a:pt x="3800232" y="316089"/>
                    <a:pt x="3791753" y="316089"/>
                  </a:cubicBezTo>
                  <a:lnTo>
                    <a:pt x="15352" y="316089"/>
                  </a:lnTo>
                  <a:cubicBezTo>
                    <a:pt x="11280" y="316089"/>
                    <a:pt x="7375" y="314472"/>
                    <a:pt x="4496" y="311593"/>
                  </a:cubicBezTo>
                  <a:cubicBezTo>
                    <a:pt x="1617" y="308714"/>
                    <a:pt x="0" y="304809"/>
                    <a:pt x="0" y="300737"/>
                  </a:cubicBezTo>
                  <a:lnTo>
                    <a:pt x="0" y="15352"/>
                  </a:lnTo>
                  <a:cubicBezTo>
                    <a:pt x="0" y="6873"/>
                    <a:pt x="6873" y="0"/>
                    <a:pt x="15352" y="0"/>
                  </a:cubicBez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3807105" cy="373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634517" y="6806385"/>
            <a:ext cx="14624783" cy="1214238"/>
            <a:chOff x="0" y="0"/>
            <a:chExt cx="3807105" cy="31608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807105" cy="316089"/>
            </a:xfrm>
            <a:custGeom>
              <a:avLst/>
              <a:gdLst/>
              <a:ahLst/>
              <a:cxnLst/>
              <a:rect l="l" t="t" r="r" b="b"/>
              <a:pathLst>
                <a:path w="3807105" h="316089">
                  <a:moveTo>
                    <a:pt x="15352" y="0"/>
                  </a:moveTo>
                  <a:lnTo>
                    <a:pt x="3791753" y="0"/>
                  </a:lnTo>
                  <a:cubicBezTo>
                    <a:pt x="3800232" y="0"/>
                    <a:pt x="3807105" y="6873"/>
                    <a:pt x="3807105" y="15352"/>
                  </a:cubicBezTo>
                  <a:lnTo>
                    <a:pt x="3807105" y="300737"/>
                  </a:lnTo>
                  <a:cubicBezTo>
                    <a:pt x="3807105" y="309216"/>
                    <a:pt x="3800232" y="316089"/>
                    <a:pt x="3791753" y="316089"/>
                  </a:cubicBezTo>
                  <a:lnTo>
                    <a:pt x="15352" y="316089"/>
                  </a:lnTo>
                  <a:cubicBezTo>
                    <a:pt x="11280" y="316089"/>
                    <a:pt x="7375" y="314472"/>
                    <a:pt x="4496" y="311593"/>
                  </a:cubicBezTo>
                  <a:cubicBezTo>
                    <a:pt x="1617" y="308714"/>
                    <a:pt x="0" y="304809"/>
                    <a:pt x="0" y="300737"/>
                  </a:cubicBezTo>
                  <a:lnTo>
                    <a:pt x="0" y="15352"/>
                  </a:lnTo>
                  <a:cubicBezTo>
                    <a:pt x="0" y="6873"/>
                    <a:pt x="6873" y="0"/>
                    <a:pt x="15352" y="0"/>
                  </a:cubicBez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3807105" cy="373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588919" y="8220648"/>
            <a:ext cx="14624783" cy="1214238"/>
            <a:chOff x="0" y="0"/>
            <a:chExt cx="3807105" cy="31608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807105" cy="316089"/>
            </a:xfrm>
            <a:custGeom>
              <a:avLst/>
              <a:gdLst/>
              <a:ahLst/>
              <a:cxnLst/>
              <a:rect l="l" t="t" r="r" b="b"/>
              <a:pathLst>
                <a:path w="3807105" h="316089">
                  <a:moveTo>
                    <a:pt x="15352" y="0"/>
                  </a:moveTo>
                  <a:lnTo>
                    <a:pt x="3791753" y="0"/>
                  </a:lnTo>
                  <a:cubicBezTo>
                    <a:pt x="3800232" y="0"/>
                    <a:pt x="3807105" y="6873"/>
                    <a:pt x="3807105" y="15352"/>
                  </a:cubicBezTo>
                  <a:lnTo>
                    <a:pt x="3807105" y="300737"/>
                  </a:lnTo>
                  <a:cubicBezTo>
                    <a:pt x="3807105" y="309216"/>
                    <a:pt x="3800232" y="316089"/>
                    <a:pt x="3791753" y="316089"/>
                  </a:cubicBezTo>
                  <a:lnTo>
                    <a:pt x="15352" y="316089"/>
                  </a:lnTo>
                  <a:cubicBezTo>
                    <a:pt x="11280" y="316089"/>
                    <a:pt x="7375" y="314472"/>
                    <a:pt x="4496" y="311593"/>
                  </a:cubicBezTo>
                  <a:cubicBezTo>
                    <a:pt x="1617" y="308714"/>
                    <a:pt x="0" y="304809"/>
                    <a:pt x="0" y="300737"/>
                  </a:cubicBezTo>
                  <a:lnTo>
                    <a:pt x="0" y="15352"/>
                  </a:lnTo>
                  <a:cubicBezTo>
                    <a:pt x="0" y="6873"/>
                    <a:pt x="6873" y="0"/>
                    <a:pt x="15352" y="0"/>
                  </a:cubicBez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3807105" cy="373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950703" y="2597135"/>
            <a:ext cx="13901215" cy="6676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Factor edad: 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 el determinante biológico más fuerte. </a:t>
            </a: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 carga patológica crece linealmente con la edad,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sin distinción significativa entre sexos.</a:t>
            </a:r>
          </a:p>
          <a:p>
            <a:pPr algn="l">
              <a:lnSpc>
                <a:spcPts val="2659"/>
              </a:lnSpc>
            </a:pPr>
            <a:endParaRPr lang="en-US" sz="18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659"/>
              </a:lnSpc>
            </a:pPr>
            <a:endParaRPr lang="en-US" sz="18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Disparidad en 'Normalidad': 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detectó una brecha diagnóstica por perfil demográfico. El </a:t>
            </a: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grupo Nativo de Hawái presenta la mayor tasa de estudios "limpios" (16.9%)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contrastando con el </a:t>
            </a: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grupo Sin Dato (Unknown) que es el de mayor carga patológica.</a:t>
            </a:r>
          </a:p>
          <a:p>
            <a:pPr algn="l">
              <a:lnSpc>
                <a:spcPts val="2659"/>
              </a:lnSpc>
            </a:pPr>
            <a:endParaRPr lang="en-US" sz="18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2659"/>
              </a:lnSpc>
            </a:pPr>
            <a:endParaRPr lang="en-US" sz="18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Fenómeno de Multimorbilidad: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Las </a:t>
            </a: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patologías no se presentan aisladas.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Existen "clusters" definidos (ej. Complejo Cardiaco vs. Respiratorio) que obligan a un enfoque de detección multi-etiqueta.</a:t>
            </a:r>
          </a:p>
          <a:p>
            <a:pPr algn="l">
              <a:lnSpc>
                <a:spcPts val="2659"/>
              </a:lnSpc>
            </a:pPr>
            <a:endParaRPr lang="en-US" sz="18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659"/>
              </a:lnSpc>
            </a:pPr>
            <a:endParaRPr lang="en-US" sz="18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Sesgo de Severidad: 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dataset representa una población críticamente enferma, evidenciado por la </a:t>
            </a: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alta prevalencia de dispositivos de soporte (65.7%) 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 la escasez de casos "sanos" (12.8%).</a:t>
            </a:r>
          </a:p>
          <a:p>
            <a:pPr algn="l">
              <a:lnSpc>
                <a:spcPts val="2659"/>
              </a:lnSpc>
            </a:pPr>
            <a:endParaRPr lang="en-US" sz="18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659"/>
              </a:lnSpc>
            </a:pPr>
            <a:endParaRPr lang="en-US" sz="18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Marcadores Críticos: 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análisis de Odds Ratio confirmó que el </a:t>
            </a: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Soporte Vital (3.4x) y la Edad &gt;75 (3.5x) son los predictores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dominantes de </a:t>
            </a:r>
            <a:r>
              <a:rPr lang="en-US" sz="1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estado de gravedad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superando a los factores raciales.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28700" y="496197"/>
            <a:ext cx="15947557" cy="473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8"/>
              </a:lnSpc>
            </a:pPr>
            <a:r>
              <a:rPr lang="en-US" sz="3800" b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Principales hallazgos: Patrones de severidad y disparidad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1495" y="-1278387"/>
            <a:ext cx="18610990" cy="3020317"/>
            <a:chOff x="0" y="0"/>
            <a:chExt cx="4901660" cy="7954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01660" cy="795474"/>
            </a:xfrm>
            <a:custGeom>
              <a:avLst/>
              <a:gdLst/>
              <a:ahLst/>
              <a:cxnLst/>
              <a:rect l="l" t="t" r="r" b="b"/>
              <a:pathLst>
                <a:path w="4901660" h="795474">
                  <a:moveTo>
                    <a:pt x="0" y="0"/>
                  </a:moveTo>
                  <a:lnTo>
                    <a:pt x="4901660" y="0"/>
                  </a:lnTo>
                  <a:lnTo>
                    <a:pt x="4901660" y="795474"/>
                  </a:lnTo>
                  <a:lnTo>
                    <a:pt x="0" y="795474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901660" cy="8526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844423"/>
            <a:ext cx="15947557" cy="473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8"/>
              </a:lnSpc>
            </a:pPr>
            <a:r>
              <a:rPr lang="en-US" sz="3800" b="1" dirty="0" err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Implicaciones</a:t>
            </a:r>
            <a:r>
              <a:rPr lang="en-US" sz="3800" b="1" dirty="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para </a:t>
            </a:r>
            <a:r>
              <a:rPr lang="en-US" sz="3800" b="1" dirty="0" err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el</a:t>
            </a:r>
            <a:r>
              <a:rPr lang="en-US" sz="3800" b="1" dirty="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Modelado</a:t>
            </a:r>
            <a:r>
              <a:rPr lang="en-US" sz="3800" b="1" dirty="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: Hacia </a:t>
            </a:r>
            <a:r>
              <a:rPr lang="en-US" sz="3800" b="1" dirty="0" err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una</a:t>
            </a:r>
            <a:r>
              <a:rPr lang="en-US" sz="3800" b="1" dirty="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Arquitectura</a:t>
            </a:r>
            <a:r>
              <a:rPr lang="en-US" sz="3800" b="1" dirty="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Robusta</a:t>
            </a:r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1E840344-35E9-8630-04F6-5E7D5931AD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5381181"/>
              </p:ext>
            </p:extLst>
          </p:nvPr>
        </p:nvGraphicFramePr>
        <p:xfrm>
          <a:off x="3581400" y="2476500"/>
          <a:ext cx="10604500" cy="469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2712700" imgH="5803900" progId="Excel.Sheet.12">
                  <p:embed/>
                </p:oleObj>
              </mc:Choice>
              <mc:Fallback>
                <p:oleObj name="Worksheet" r:id="rId2" imgW="12712700" imgH="5803900" progId="Excel.Sheet.12">
                  <p:embed/>
                  <p:pic>
                    <p:nvPicPr>
                      <p:cNvPr id="5" name="Object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581400" y="2476500"/>
                        <a:ext cx="10604500" cy="4694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83341" y="-1044298"/>
            <a:ext cx="11304659" cy="12048783"/>
            <a:chOff x="0" y="0"/>
            <a:chExt cx="879839" cy="937755"/>
          </a:xfrm>
        </p:grpSpPr>
        <p:sp>
          <p:nvSpPr>
            <p:cNvPr id="3" name="Freeform 3"/>
            <p:cNvSpPr/>
            <p:nvPr/>
          </p:nvSpPr>
          <p:spPr>
            <a:xfrm>
              <a:off x="7953" y="0"/>
              <a:ext cx="863934" cy="937754"/>
            </a:xfrm>
            <a:custGeom>
              <a:avLst/>
              <a:gdLst/>
              <a:ahLst/>
              <a:cxnLst/>
              <a:rect l="l" t="t" r="r" b="b"/>
              <a:pathLst>
                <a:path w="863934" h="937754">
                  <a:moveTo>
                    <a:pt x="856636" y="504066"/>
                  </a:moveTo>
                  <a:lnTo>
                    <a:pt x="683936" y="902566"/>
                  </a:lnTo>
                  <a:cubicBezTo>
                    <a:pt x="674678" y="923929"/>
                    <a:pt x="653618" y="937754"/>
                    <a:pt x="630335" y="937754"/>
                  </a:cubicBezTo>
                  <a:lnTo>
                    <a:pt x="233598" y="937754"/>
                  </a:lnTo>
                  <a:cubicBezTo>
                    <a:pt x="210315" y="937754"/>
                    <a:pt x="189255" y="923929"/>
                    <a:pt x="179997" y="902566"/>
                  </a:cubicBezTo>
                  <a:lnTo>
                    <a:pt x="7297" y="504066"/>
                  </a:lnTo>
                  <a:cubicBezTo>
                    <a:pt x="-2432" y="481616"/>
                    <a:pt x="-2432" y="456139"/>
                    <a:pt x="7297" y="433688"/>
                  </a:cubicBezTo>
                  <a:lnTo>
                    <a:pt x="179997" y="35189"/>
                  </a:lnTo>
                  <a:cubicBezTo>
                    <a:pt x="189255" y="13826"/>
                    <a:pt x="210315" y="0"/>
                    <a:pt x="233598" y="0"/>
                  </a:cubicBezTo>
                  <a:lnTo>
                    <a:pt x="630335" y="0"/>
                  </a:lnTo>
                  <a:cubicBezTo>
                    <a:pt x="653618" y="0"/>
                    <a:pt x="674678" y="13826"/>
                    <a:pt x="683936" y="35189"/>
                  </a:cubicBezTo>
                  <a:lnTo>
                    <a:pt x="856636" y="433688"/>
                  </a:lnTo>
                  <a:cubicBezTo>
                    <a:pt x="866366" y="456139"/>
                    <a:pt x="866366" y="481616"/>
                    <a:pt x="856636" y="504066"/>
                  </a:cubicBezTo>
                  <a:close/>
                </a:path>
              </a:pathLst>
            </a:custGeom>
            <a:solidFill>
              <a:srgbClr val="3557CB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ES_tradn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761692" y="-1044298"/>
            <a:ext cx="10443299" cy="12048783"/>
            <a:chOff x="0" y="0"/>
            <a:chExt cx="812800" cy="937755"/>
          </a:xfrm>
        </p:grpSpPr>
        <p:sp>
          <p:nvSpPr>
            <p:cNvPr id="5" name="Freeform 5"/>
            <p:cNvSpPr/>
            <p:nvPr/>
          </p:nvSpPr>
          <p:spPr>
            <a:xfrm>
              <a:off x="3997" y="0"/>
              <a:ext cx="804806" cy="937754"/>
            </a:xfrm>
            <a:custGeom>
              <a:avLst/>
              <a:gdLst/>
              <a:ahLst/>
              <a:cxnLst/>
              <a:rect l="l" t="t" r="r" b="b"/>
              <a:pathLst>
                <a:path w="804806" h="937754">
                  <a:moveTo>
                    <a:pt x="801139" y="486562"/>
                  </a:moveTo>
                  <a:lnTo>
                    <a:pt x="613267" y="920069"/>
                  </a:lnTo>
                  <a:cubicBezTo>
                    <a:pt x="608614" y="930806"/>
                    <a:pt x="598030" y="937754"/>
                    <a:pt x="586328" y="937754"/>
                  </a:cubicBezTo>
                  <a:lnTo>
                    <a:pt x="218478" y="937754"/>
                  </a:lnTo>
                  <a:cubicBezTo>
                    <a:pt x="206776" y="937754"/>
                    <a:pt x="196192" y="930806"/>
                    <a:pt x="191539" y="920069"/>
                  </a:cubicBezTo>
                  <a:lnTo>
                    <a:pt x="3667" y="486562"/>
                  </a:lnTo>
                  <a:cubicBezTo>
                    <a:pt x="-1222" y="475279"/>
                    <a:pt x="-1222" y="462475"/>
                    <a:pt x="3667" y="451192"/>
                  </a:cubicBezTo>
                  <a:lnTo>
                    <a:pt x="191539" y="17685"/>
                  </a:lnTo>
                  <a:cubicBezTo>
                    <a:pt x="196192" y="6949"/>
                    <a:pt x="206776" y="0"/>
                    <a:pt x="218478" y="0"/>
                  </a:cubicBezTo>
                  <a:lnTo>
                    <a:pt x="586328" y="0"/>
                  </a:lnTo>
                  <a:cubicBezTo>
                    <a:pt x="598030" y="0"/>
                    <a:pt x="608614" y="6949"/>
                    <a:pt x="613267" y="17685"/>
                  </a:cubicBezTo>
                  <a:lnTo>
                    <a:pt x="801139" y="451192"/>
                  </a:lnTo>
                  <a:cubicBezTo>
                    <a:pt x="806029" y="462475"/>
                    <a:pt x="806029" y="475279"/>
                    <a:pt x="801139" y="48656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_tradn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4300" y="-38100"/>
              <a:ext cx="584200" cy="975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07240" y="6780024"/>
            <a:ext cx="7900806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Insights basados en datos para el cuidado clínico crítico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17320" y="2881957"/>
            <a:ext cx="12788300" cy="2239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97"/>
              </a:lnSpc>
            </a:pPr>
            <a:r>
              <a:rPr lang="en-US" sz="1773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Thank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17320" y="4766516"/>
            <a:ext cx="13506773" cy="2239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97"/>
              </a:lnSpc>
            </a:pPr>
            <a:r>
              <a:rPr lang="en-US" sz="17739">
                <a:solidFill>
                  <a:srgbClr val="3557CB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You</a:t>
            </a:r>
          </a:p>
        </p:txBody>
      </p:sp>
      <p:sp>
        <p:nvSpPr>
          <p:cNvPr id="10" name="Freeform 10"/>
          <p:cNvSpPr/>
          <p:nvPr/>
        </p:nvSpPr>
        <p:spPr>
          <a:xfrm>
            <a:off x="8204115" y="6846699"/>
            <a:ext cx="3830463" cy="3830463"/>
          </a:xfrm>
          <a:custGeom>
            <a:avLst/>
            <a:gdLst/>
            <a:ahLst/>
            <a:cxnLst/>
            <a:rect l="l" t="t" r="r" b="b"/>
            <a:pathLst>
              <a:path w="3830463" h="3830463">
                <a:moveTo>
                  <a:pt x="0" y="0"/>
                </a:moveTo>
                <a:lnTo>
                  <a:pt x="3830463" y="0"/>
                </a:lnTo>
                <a:lnTo>
                  <a:pt x="3830463" y="3830463"/>
                </a:lnTo>
                <a:lnTo>
                  <a:pt x="0" y="38304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_tradnl"/>
          </a:p>
        </p:txBody>
      </p:sp>
      <p:sp>
        <p:nvSpPr>
          <p:cNvPr id="11" name="Freeform 11"/>
          <p:cNvSpPr/>
          <p:nvPr/>
        </p:nvSpPr>
        <p:spPr>
          <a:xfrm>
            <a:off x="15472007" y="2424757"/>
            <a:ext cx="4076486" cy="4076486"/>
          </a:xfrm>
          <a:custGeom>
            <a:avLst/>
            <a:gdLst/>
            <a:ahLst/>
            <a:cxnLst/>
            <a:rect l="l" t="t" r="r" b="b"/>
            <a:pathLst>
              <a:path w="4076486" h="4076486">
                <a:moveTo>
                  <a:pt x="0" y="0"/>
                </a:moveTo>
                <a:lnTo>
                  <a:pt x="4076486" y="0"/>
                </a:lnTo>
                <a:lnTo>
                  <a:pt x="4076486" y="4076486"/>
                </a:lnTo>
                <a:lnTo>
                  <a:pt x="0" y="4076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_tradnl"/>
          </a:p>
        </p:txBody>
      </p:sp>
      <p:sp>
        <p:nvSpPr>
          <p:cNvPr id="12" name="Freeform 12"/>
          <p:cNvSpPr/>
          <p:nvPr/>
        </p:nvSpPr>
        <p:spPr>
          <a:xfrm>
            <a:off x="6577756" y="8447129"/>
            <a:ext cx="811171" cy="811171"/>
          </a:xfrm>
          <a:custGeom>
            <a:avLst/>
            <a:gdLst/>
            <a:ahLst/>
            <a:cxnLst/>
            <a:rect l="l" t="t" r="r" b="b"/>
            <a:pathLst>
              <a:path w="811171" h="811171">
                <a:moveTo>
                  <a:pt x="0" y="0"/>
                </a:moveTo>
                <a:lnTo>
                  <a:pt x="811171" y="0"/>
                </a:lnTo>
                <a:lnTo>
                  <a:pt x="811171" y="811171"/>
                </a:lnTo>
                <a:lnTo>
                  <a:pt x="0" y="8111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_tradnl"/>
          </a:p>
        </p:txBody>
      </p:sp>
      <p:sp>
        <p:nvSpPr>
          <p:cNvPr id="13" name="Freeform 13"/>
          <p:cNvSpPr/>
          <p:nvPr/>
        </p:nvSpPr>
        <p:spPr>
          <a:xfrm>
            <a:off x="8976367" y="1897585"/>
            <a:ext cx="811171" cy="811171"/>
          </a:xfrm>
          <a:custGeom>
            <a:avLst/>
            <a:gdLst/>
            <a:ahLst/>
            <a:cxnLst/>
            <a:rect l="l" t="t" r="r" b="b"/>
            <a:pathLst>
              <a:path w="811171" h="811171">
                <a:moveTo>
                  <a:pt x="0" y="0"/>
                </a:moveTo>
                <a:lnTo>
                  <a:pt x="811171" y="0"/>
                </a:lnTo>
                <a:lnTo>
                  <a:pt x="811171" y="811171"/>
                </a:lnTo>
                <a:lnTo>
                  <a:pt x="0" y="8111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_tradnl"/>
          </a:p>
        </p:txBody>
      </p:sp>
      <p:sp>
        <p:nvSpPr>
          <p:cNvPr id="14" name="Freeform 14"/>
          <p:cNvSpPr/>
          <p:nvPr/>
        </p:nvSpPr>
        <p:spPr>
          <a:xfrm>
            <a:off x="313504" y="1713067"/>
            <a:ext cx="1103816" cy="1103816"/>
          </a:xfrm>
          <a:custGeom>
            <a:avLst/>
            <a:gdLst/>
            <a:ahLst/>
            <a:cxnLst/>
            <a:rect l="l" t="t" r="r" b="b"/>
            <a:pathLst>
              <a:path w="1103816" h="1103816">
                <a:moveTo>
                  <a:pt x="0" y="0"/>
                </a:moveTo>
                <a:lnTo>
                  <a:pt x="1103816" y="0"/>
                </a:lnTo>
                <a:lnTo>
                  <a:pt x="1103816" y="1103816"/>
                </a:lnTo>
                <a:lnTo>
                  <a:pt x="0" y="11038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_tradn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1015</Words>
  <Application>Microsoft Macintosh PowerPoint</Application>
  <PresentationFormat>Custom</PresentationFormat>
  <Paragraphs>94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Poppins Italics</vt:lpstr>
      <vt:lpstr>Arial</vt:lpstr>
      <vt:lpstr>Poppins Medium</vt:lpstr>
      <vt:lpstr>Calibri</vt:lpstr>
      <vt:lpstr>Poppins Bold Italics</vt:lpstr>
      <vt:lpstr>Poppins</vt:lpstr>
      <vt:lpstr>Poppins Bold</vt:lpstr>
      <vt:lpstr>Bricolage Grotesque Bold</vt:lpstr>
      <vt:lpstr>Etna Sans Serif</vt:lpstr>
      <vt:lpstr>Office Theme</vt:lpstr>
      <vt:lpstr>Microsoft Excel 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Health Care Presentation</dc:title>
  <cp:lastModifiedBy>Gema Alexandra Zambrano Zambrano</cp:lastModifiedBy>
  <cp:revision>4</cp:revision>
  <dcterms:created xsi:type="dcterms:W3CDTF">2006-08-16T00:00:00Z</dcterms:created>
  <dcterms:modified xsi:type="dcterms:W3CDTF">2026-01-11T13:58:45Z</dcterms:modified>
  <dc:identifier>DAG-DwqcyLY</dc:identifier>
</cp:coreProperties>
</file>